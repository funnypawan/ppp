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 — 🪨 जीव एवं अजीव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निम्नलिखित में से कौन-सी अजड़ (non-living) वस्तु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आम का वृक्ष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पर्वत एवं चट्टान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मछली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अमीबा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पर्वत एवं चट्टान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पर्वत, चट्टान एवं बालू के टीले अजड़ हैं; ये सतह पर पदार्थ जमा होने से 'बढ़ते' दिखाई देते हैं।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 — 🧠 चेतना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के अनुसार जीवित वस्तुओं का सर्वाधिक निर्णायक लक्षण (defining property)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वृद्धि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केवल प्रजनन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चेतना – पर्यावरण को अनुभूत कर अनुक्रिया करना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शरीर का रंग परिवर्तन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चेतना – पर्यावरण को अनुभूत कर अनुक्रिया करना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Consciousness therefore, becomes the defining property of living organisms.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 — 🧩 जीवन के लक्षण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किसी एक लक्षण को आधार बनाकर 'जीव' की पूर्ण परिभाषा क्यों नहीं दी जा सकती?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क्योंकि प्रत्येक लक्षण में अपवाद मिलते हैं (जैसे वृद्धि, प्रजनन)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क्योंकि लक्षण मापने योग्य नहीं होते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क्योंकि सभी जीव अकोशिकीय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क्योंकि वर्गीकरण ही असंभव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क्योंकि प्रत्येक लक्षण में अपवाद मिलते हैं (जैसे वृद्धि, प्रजनन)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प्रत्येक एकल लक्षण कोई-न-कोई अपवाद रखता है; सभी लक्षण सामूहिक रूप से मिलकर जीवन को दर्शाते हैं।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 — 🧠 स्व-चेतना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स्व-चेतना (self-consciousness) किसमें पाई जाती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अमीबा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पौधों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मनुष्य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विषाणु में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केवल मनुष्य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Human being is the only organism who is aware of himself, i.e., has self-consciousness.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 — 🌱 अपरिमित वृद्धि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पौधों में वृद्धि के संबंध में सही कथन चुनिए।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भ्रूण अवस्था में होती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जीवन भर कोशिका-विभाजन से चलती रहती है (अपरिमित)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कुछ दिनों में स्थायी रूप से रुक जाती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जड़ में सीमित रहती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जीवन भर कोशिका-विभाजन से चलती रहती है (अपरिमित)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In plants, growth by cell division occurs continuously throughout their life span.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 — 🐘 सीमित वृद्धि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जंतुओं में वृद्धि के संबंध में NCERT के अनुसार सही कथन है—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जीवन भर चलती रहती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केवल एक निश्चित आयु तक; परंतु कुछ ऊतकों में विभाजन जारी रहता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कभी नहीं होती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अंडे के भीतर होती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केवल एक निश्चित आयु तक; परंतु कुछ ऊतकों में विभाजन जारी रहता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In animals growth is seen only up to a certain age; cell division occurs in certain tissues to replace lost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 — ⚖️ वृद्धि बनाम प्रजनन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अधिकतर उच्च पादपों एवं जंतुओं में कौन-सी दो घटनाएँ परस्पर अनन्य (mutually exclusive) होती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वृद्धि और श्वसन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वृद्धि और प्रजनन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चयापचय और मृत्यु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गति और चेतना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वृद्धि और प्रजनन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In majority of higher animals and plants, growth and reproduction are mutually exclusive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 — 🦠 एककोशिकीय वृद्धि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एककोशिकीय जीवों (अमीबा, जीवाणु) में 'वृद्धि' मुख्यतः किसकी पर्यायवाची मानी जाती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चयापचय की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प्रजनन की (कोशिका-संख्या में वृद्धि)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उत्परिवर्तन की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वाष्पोत्सर्जन की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प्रजनन की (कोशिका-संख्या में वृद्धि)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In unicellular organisms reproduction is synonymous with growth, i.e., increase in number of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 — 🏔️ बाह्य जमाव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निर्जीव वस्तुओं (पर्वत, बालू का टीला) में देखी जाने वाली 'वृद्धि' का कारण है—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आंतरिक कोशिका-विभाजन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सतह पर पदार्थ का जमा होना (accumulation)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बीजाणु निर्माण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चयापचय की तीव्रता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सतह पर पदार्थ का जमा होना (accumulation)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निर्जीवों में वृद्धि सतह पर जमाव से, जबकि जीवों में वृद्धि भीतर से (from inside) होती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10 — 🐴 प्रजनन का अपवाद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प्रजनन को 'सर्वव्यापी निर्णायक लक्षण' क्यों नहीं माना जाता?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क्योंकि खच्चर (mule), बाँझ मधुमक्खी-श्रमिकी एवं बाँझ दंपति — अनेक जीव प्रजनन नहीं करते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क्योंकि प्रजनन जीवों के लिए आवश्यक ही नहीं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क्योंकि केवल पादप प्रजनन करते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क्योंकि सभी जीव सदा प्रजनन करते हैं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क्योंकि खच्चर (mule), बाँझ मधुमक्खी-श्रमिकी एवं बाँझ दंपति — अनेक जीव प्रजनन नहीं करते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many organisms do not reproduce (mules, sterile worker bees, infertile human couples,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11 — 🧪 in vitro चयापचय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नली (test-tube) में कराई गई पृथक चयापचयी अभिक्रियाओं के बारे में NCERT क्या कहता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वे पूर्णतः जीवित वस्तुएँ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वे न जीवित न अजीवित — परंतु 'जीवित अभिक्रियाएँ' अवश्य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वे बिलकुल अजीवित अभिक्रियाएँ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वे कोशिकांग हैं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वे न जीवित न अजीवित — परंतु 'जीवित अभिक्रियाएँ' अवश्य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Isolated metabolic reactions in vitro are not living things but surely living reactions.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12 — ⚗️ चयापचय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चयापचय (metabolism) की सही परिभाषा कौन-सी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शरीर में होने वाली सभी रासायनिक अभिक्रियाओं का कुल योग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केवल श्वसन की अभिक्रियाएँ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पाचन-क्रिया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उत्सर्जन-क्रिया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शरीर में होने वाली सभी रासायनिक अभिक्रियाओं का कुल योग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The sum total of all the chemical reactions occurring in our body is metabolism.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13 — 🔬 कोशिकीय संगठन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के अनुसार 'जीव-रूपों' का निर्णायक लक्षण संगठन के स्तर पर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रक्त-संचालन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शरीर का कोशिकीय संगठन (cellular organisation)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हार्मोन का स्राव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प्रकाश-श्लेषण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शरीर का कोशिकीय संगठन (cellular organisation)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cellular organisation of the body is the defining feature of life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14 — ☀️ प्रकाश-अवधि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प्रकाश-अवधि (photoperiod) का प्रभाव प्रजनन पर किसमें देखा जाता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पादपों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केवल जंतुओं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पादप एवं जंतु दोनों (seasonal breeders)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विषाणुओं में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पादप एवं जंतु दोनों (seasonal breeders)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Photoperiod affects reproduction in seasonal breeders, both plants and animals.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15 — 😴 सुप्तावस्था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बीजाणुओं एवं बीजों की सुप्तावस्था (dormancy) के बारे में सही कथन चुनिए—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इससे जीव मर जाते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यह अजीवित होने का प्रमाण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प्रतिकूल परिस्थिति में जीवित रहने की रणनीति; क्रियाएँ अत्यंत मंद हो जाती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इस दौरान चयापचय और तेज हो जाता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प्रतिकूल परिस्थिति में जीवित रहने की रणनीति; क्रियाएँ अत्यंत मंद हो जाती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सुप्तावस्था में चयापचय अत्यंत मंद गति से चलता रहता है; अनुकूल अवसर पर वे पुनः सक्रिय हो जाते हैं।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16 — ⏳ मृत्यु एवं लक्षण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किसी मृत जीव में तुरंत बंद हो जाने वाली क्रिया कौन-सी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जल का वाष्पीकरण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वृद्धि एवं चयापचय (जीवनोपयोगी क्रियाएँ)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ताप-परिवर्तन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भौतिक ऑक्सीकरण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वृद्धि एवं चयापचय (जीवनोपयोगी क्रियाएँ)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A dead organism does not grow — मृत्यु पर चयापचय भी रुक जाता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17 — 📈 वृद्धि की दोहरी विशेषता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के अनुसार 'वृद्धि' की दोहरी (twin) विशेषताएँ कौन-सी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द्रव्यमान (mass) में वृद्धि एवं व्यक्तियों की संख्या में वृद्धि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रंग में परिवर्तन एवं गति में वृद्धि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कोशिका-विभाजन का सदैव रुकना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प्रकाश-श्लेषण एवं श्वसन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द्रव्यमान (mass) में वृद्धि एवं व्यक्तियों की संख्या में वृद्धि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Increase in mass and increase in number of individuals are twin characteristics of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18 — 🏥 कोमा एवं चेतना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अस्पताल में कोमा (coma) की अवस्था में रोगी — मस्तिष्क-मृत, परंतु यंत्रों से हृदय-श्वसन जारी — NCERT इसे किस बहस को उठाता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वर्गीकरण की उपयोगिता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नामकरण के नियम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चेतना के आधार पर 'जीवित/अजीवित' निर्धारित करने की जटिलता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हर्बेरियम के महत्व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चेतना के आधार पर 'जीवित/अजीवित' निर्धारित करने की जटिलता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ऐसे रोगी में स्व-चेतना नहीं रहती; अतः उसे जीवित माना जाए या अजीवित — यही प्रश्न उठता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19 — 📡 संवेदनशीलता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पर्यावरण-संकेतों को ग्रहण करने के संदर्भ में NCERT के अनुसार सही कथन चुनिए—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उच्च जंतु ही संकेत ग्रहण कर सकते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prokaryotes से लेकर सर्वाधिक जटिल eukaryotes तक सभी जीव संकेतों को ग्रहण कर अनुक्रिया करते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पादपों में यह क्षमता नहीं होती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यह क्षमता केवल स्तनधारियों में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prokaryotes से लेकर सर्वाधिक जटिल eukaryotes तक सभी जीव संकेतों को ग्रहण कर अनुक्रिया करते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All organisms, from the prokaryotes to the most complex eukaryotes can sense and respond to environmental cues.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20 — 🧬 उद्भूत लक्षण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ऊतकों के लक्षण उनके घटक कोशिकाओं में नहीं पाए जाते — NCERT के अनुसार यह किसका उदाहरण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उत्परिवर्तन का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अंतःक्रियाओं से उभरने वाले 'उद्भूत लक्षणों' (emergent properties) का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विषमयुग्मिता का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अप्रकटन का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अंतःक्रियाओं से उभरने वाले 'उद्भूत लक्षणों' (emergent properties) का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Properties of tissues arise as a result of interactions among the constituent cells — emergent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21 — 🌍 जैव विविधता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के अनुसार ज्ञात एवं वर्णित (known &amp; described) जातियों की संख्या कितनी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0.17 लाख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1.7 – 1.8 लाख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1.7 – 1.8 मिलियन (लगभग 17 लाख)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170 मिलियन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1.7 – 1.8 मिलियन (लगभग 17 लाख)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The number of species that are known and described range between 1.7 – 1.8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22 — 🌍 जैव विविधता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'जैव विविधता (biodiversity)' से तात्पर्य है—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पृथ्वी पर विद्यमान जीवों की संख्या एवं प्रकार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केवल वन्यजीव अभयारण्य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विलुप्त हो चुकी जातियाँ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कोशिकांगों की विविधता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पृथ्वी पर विद्यमान जीवों की संख्या एवं प्रकार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biodiversity refers to the number and types of organisms present on earth.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23 — 🏷️ नामकरण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संपूर्ण विश्व में किसी जीव को एक ही नाम से जानाने हेतु नाम को मानकीकृत करने की प्रक्रिया कहलाती है—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कीलकन (mounting)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वर्गीकरण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नामकरण (nomenclature)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चित्रण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नामकरण (nomenclature)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There is a need to standardise the naming of living organisms… this process is called nomenclature.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24 — 🔎 पहचान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'नाम किस जीव से संबद्ध है' — यह निर्धारित करने की प्रक्रिया कहलाती है—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पहचान (identification)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नामकरण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वर्गीकरण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कीलकन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पहचान (identification)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…we know to what organism the name is attached to. This is identification.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25 — 📘 ICBN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पादपों के वैज्ञानिक नामकरण के सर्वमान्य सिद्धांत एवं आधार कहां दिए गए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ICZN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ICBN (International Code for Botanical Nomenclature)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IUCN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ISO में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ICBN (International Code for Botanical Nomenclature)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For plants, scientific names are based on agreed principles and criteria provided in ICBN.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26 — 📘 ICZN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जंतुओं के नामकरण का अंतर्राष्ट्रीय नियम-संग्रह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ICBN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ICZN (International Code of Zoological Nomenclature)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ICNCP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ICTV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ICZN (International Code of Zoological Nomenclature)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Animal taxonomists have evolved International Code of Zoological Nomenclature.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27 — 🏷️ द्विनाम पद्धति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द्विनाम पद्धति (Binomial nomenclature) किसने दी?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चार्ल्स डार्विन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कैरोलस लिनियस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एन्थोनी वैन ल्यूवेनहॉक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आर.एच. विटकर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कैरोलस लिनियस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This naming system given by Carolus Linnaeus is being practised by biologists all over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28 — 🥭 आम का नाम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वैज्ञानिक नाम Mangifera indica में 'Mangifera' तथा 'indica' क्रमशः हैं—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कुल, वर्ग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गोत्र, जाति-विशेषण (specific epithet)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जाति-विशेषण, गोत्र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वर्ग, क्रम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गोत्र, जाति-विशेषण (specific epithet)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Mangifera represents the genus while indica is a particular species, i.e., a specific epithet.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29 — 🏷️ लिपि-नियम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वैज्ञानिक नाम लिखने का सही नियम चुनिए।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गोत्र small letter से, जाति-विशेषण Capital से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दोनों शब्द Capital letter से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गोत्र Capital letter से, जाति-विशेषण small letter से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किसी नियम की आवश्यकता नहीं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गोत्र Capital letter से, जाति-विशेषण small letter से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The first word denoting the genus starts with a capital letter while the specific epithet with a small letter.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30 — 🏷️ लिपि-नियम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मुद्रित (printed) अवस्था में वैज्ञानिक नाम कैसे लिखे जाते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BOLD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ITALICS (तिरछे)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सम्पूर्ण CAPS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सादा, बिना किसी विशेषता के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ITALICS (तिरछे)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Biological names are generally in Latin and written in italics.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31 — 🏷️ हस्तलिपि नियम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हस्तलिखित वैज्ञानिक नाम के साथ क्या किया जाना चाहिए?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पूरा नाम एक साथ underline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गोत्र एवं जाति-विशेषण अलग-अलग underline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कोई चिह्न नहीं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गोत्र का underline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गोत्र एवं जाति-विशेषण अलग-अलग underline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Both the words in a biological name, when handwritten, are separately underlined.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32 — ✍️ लेखक-नाम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'Mangifera indica Linn.' में अंत में आया 'Linn.' क्या दर्शाता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भाषा (लैटिन)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लेखक का संक्षिप्त नाम — अर्थात् यह जाति सर्वप्रथम लिनियस द्वारा वर्णित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संकलन का स्थान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कुल का नाम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लेखक का संक्षिप्त नाम — अर्थात् यह जाति सर्वप्रथम लिनियस द्वारा वर्णित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Name of the author appears after the specific epithet in abbreviated form, indicating who first described the species.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33 — 🏛️ लैटिन भाषा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वैज्ञानिक नाम मुख्यतः किस भाषा के होते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संस्कृत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अंग्रेजी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लैटिन (अथवा लैटिनीकृत/लैटिन-जन्य)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जर्मन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लैटिन (अथवा लैटिनीकृत/लैटिन-जन्य)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Biological names are generally in Latin; they are Latinised or derived from Latin irrespective of their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34 — 🧭 वर्गीकरण का इतिहास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सर्वाधिक प्रारंभिक (earliest) वर्गीकरण किस आधार पर किए गए थे?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जातिवृत्ति (evolution) के आधार पर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जीवों के 'उपयोग' के आधार पर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rRNA अनुक्रम के आधार पर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पुष्प-संरचना के आधार पर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जीवों के 'उपयोग' के आधार पर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the earliest classifications were based on the ‘uses’ of various organisms.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35 — 📖 शब्दार्थ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'Systematics' शब्द किस लैटिन शब्द से लिया गया है और उसका अर्थ क्या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systema — जीवों का व्यवस्थित विन्यास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sistema — कोशिका-समूह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systole — हृदय-संकुचन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system — परिवहन तंत्र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systema — जीवों का व्यवस्थित विन्यास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The word systematics is derived from the Latin word ‘systema’ which means systematic arrangement of organisms.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36 — 🗂️ वर्गीकरण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'वर्गीकरण (classification)' की NCERT-परिभाषा चुनिए—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सुलभ/दृश्य लक्षणों के आधार पर वस्तुओं को सुविधाजनक श्रेणियों में समूहित करना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केवल पौधों को उगाना एवं सींचना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वैज्ञानिक नाम देना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कीट-नाशकों का प्रयोग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सुलभ/दृश्य लक्षणों के आधार पर वस्तुओं को सुविधाजनक श्रेणियों में समूहित करना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Classification is the process by which anything is grouped into convenient categories based on some easily observable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37 — 🔤 शब्दार्थ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'taxonomy' शब्द ग्रीक भाषा के किन दो शब्दों से मिलकर बना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taxis (विन्यास) + metron (मापन)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tax (कर) + metron (माप)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taxis (गति) + meter (द्रव्यमान)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taxon + pathy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taxis (विन्यास) + metron (मापन)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taxis = arrangement, metron = measurement → शब्द 'taxonomy' A.P. de Candolle (1813) ने प्रयुक्त किया।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38 — 👨‍🏫 लिनियस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आधुनिक वर्गीकरण-विज्ञान (taxonomy) का जनक किसे माना जाता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अरस्तू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कैरोलस लिनियस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आर.एच. विटकर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थियोफ्रेस्टस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कैरोलस लिनियस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Carolus Linnaeus — father of taxonomy; his publication was titled 'Systema Naturae' (1735).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39 — 📝 वर्णन का महत्व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वैज्ञानिक नाम के लिए 'वर्णन (description)' अनिवार्य है, क्योंकि—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विश्व के किसी भी भाग में कोई भी व्यक्ति वर्णन से उसी नाम पर पहुँच सके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केवल फोटो पर्याप्त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स्थानीय नाम पर्याप्त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कुंजी पर्याप्त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विश्व के किसी भी भाग में कोई भी व्यक्ति वर्णन से उसी नाम पर पहुँच सके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Description of any organism should enable the people in any part of the world to arrive at the same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40 — 🪜 सर्वाधिक निम्न कोटि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वर्गीक्रम (taxonomic hierarchy) में सबसे निचली/मौलिक इकाई कौन-सी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गोत्र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जाति (species)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कुल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वर्ग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जाति (species)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All organisms, including those in plant and animal kingdoms, have species as the lowest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41 — 🧬 जाति की अवधारणा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टैक्सोनॉमिक अध्ययनों में 'जाति' किन्हें माना जाता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मूलभूत समानताएँ रखने वाले व्यष्टि-जीवों का समूह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केवल समान आकार वाले जीव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एक ही क्षेत्र के जीव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आर्थिक महत्व वाले जीव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मूलभूत समानताएँ रखने वाले व्यष्टि-जीवों का समूह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Taxonomic studies consider a group of individual organisms with fundamental similarities as a species.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42 — 🪜 कोटि-श्रेणीक्रम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टैक्सोनॉमिक 'कोटियाँ' और 'श्रेणीक्रम' में सही संबंध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कोटियाँ श्रेणीक्रम से असंबद्ध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सभी कोटियाँ मिलकर टैक्सोनॉमिक श्रेणीक्रम बनाती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श्रेणीक्रम केवल जंतुओं का बनता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कोटियाँ केवल पादपों की होती हैं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सभी कोटियाँ मिलकर टैक्सोनॉमिक श्रेणीक्रम बनाती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Since the category is part of the overall taxonomic arrangement, it is called taxonomic category; all together form the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43 — 🧱 टैक्सन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वर्गीकरण की प्रत्येक श्रेणी/कोटि को सामान्यतः क्या कहा जाता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टैक्सन (taxon)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कोशिका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जैविक जाति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कीलक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टैक्सन (taxon)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Each category, referred to as a unit of classification, represents a rank and is commonly termed taxon (pl. taxa).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44 — 🪜 वर्गीक्रम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निम्न में से सही आरोही वर्गीक्रम (ascending order) चुनिए—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जाति → गोत्र → कुल → क्रम → वर्ग → Phylum/Division → जगत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जगत → कुल → गोत्र → जाति → वर्ग → क्रम → Division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जाति → कुल → गोत्र → वर्ग → क्रम → जगत → Division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गोत्र → जाति → वर्ग → कुल → क्रम → Division → जगत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जाति → गोत्र → कुल → क्रम → वर्ग → Phylum/Division → जगत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 Figure 1.1: Species → Genus → Family → Order → Class → Phylum/Division → Kingdom.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45 — 🪜 Division/Phylum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पादप-वर्गीकरण में 'Division' कोटि प्रयुक्त होती है; जंतु-वर्गीकरण में उसकी समकक्ष कोटि कौन-सी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Class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Phylum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Order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Family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Phylum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kingdom, phylum or division (for plants), class, order, family, genus and species.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46 — 🌳 कुल (Family)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'कुल (Family)' के संबंध में सही कथन चुनिए—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एक जाति से बना होता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संबंधित गोत्रों का समूह; पादप-जातियों के vegetative एवं reproductive दोनों लक्षणों पर आधारित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जंतुओं में पाया जाता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सदैव एक ही वर्ग में सीमित रहता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संबंधित गोत्रों का समूह; पादप-जातियों के vegetative एवं reproductive दोनों लक्षणों पर आधारित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Families are characterised on the basis of both vegetative and reproductive features of plant species.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47 — 🌸 Solanaceae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के अनुसार कुल Solanaceae में रखे गए तीन गोत्र कौन-से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Solanum, Petunia, Datura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Homo, Panthera, Felis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Triticum, Mangifera, Rosa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Azadirachta, Ficus, Rosa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Solanum, Petunia, Datura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Among plants, three different genera Solanum, Petunia and Datura are placed in the family Solanaceae.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48 — 🥔 एक गोत्र, दो जाति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आलू (Solanum tuberosum) एवं बैंगन (S. melongena) के बारे में सही कथन है—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ये भिन्न गोत्रों की जातियाँ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ये भिन्न कुलों की जातियाँ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ये एक ही गोत्र Solanum की भिन्न जातियाँ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इनमें कोई समानता नहीं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ये एक ही गोत्र Solanum की भिन्न जातियाँ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Potato and brinjal are two different species but both belong to the genus Solanum.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49 — 🐅 गोत्र Panthera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Panthera leo, P. tigris एवं P. pardus के संबंध में सही कथन है—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ये एक ही जाति की विभिन्न उपजातियाँ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ये एक ही गोत्र Panthera की भिन्न जातियाँ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ये कुल Canidae के सदस्य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ये भिन्न वर्ग के जीव हैं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ये एक ही गोत्र Panthera की भिन्न जातियाँ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Lion, tiger and leopard share several common features and are species of genus Panthera; cat is in genus Felis.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50 — 🐱🐶 Felidae/Canidae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बिल्ली तथा कुत्ते किन दो कुलों में रखे जाते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Felidae एवं Canidae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Muscidae एवं Culicidae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Hominidae एवं Pongidae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Poaceae एवं Cyperaceae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Felidae एवं Canidae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Cat and dog are separated into two different families — Felidae and Canidae respectively.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51 — 🌿 क्रम (Order)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कोटि 'क्रम (Order)' के बारे में सही कथन चुनिए—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दो-तीन जातियों का समूह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संबंधित कुलों का समूह, जिनमें कुछ समान लक्षण पाए जाते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जंतु-जगत में पाया जाता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सदैव केवल एक गोत्र रखता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संबंधित कुलों का समूह, जिनमें कुछ समान लक्षण पाए जाते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Order, being a higher category, is the assemblage of families which exhibit a few similar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52 — 🌺 Order Polymoniales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कुल Convolvulaceae एवं Solanaceae को NCERT के अनुसार किस क्रम में तथा मुख्यतः किस आधार पर रखा गया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Rosales — पत्तियों के आधार पर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Polymoniales — पुष्प-लक्षणों (floral characters) के आधार पर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Poales — बीजाणु के आधार पर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Primata — वृद्धि के आधार पर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Polymoniales — पुष्प-लक्षणों (floral characters) के आधार पर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Convolvulaceae, Solanaceae are included in the order Polymoniales mainly based on the floral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53 — 🐒 वर्ग Mammalia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के अनुसार वर्ग Mammalia में रखे गए दो क्रम कौन-से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Diptera एवं Lepidoptera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Primata एवं Carnivora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Rosales एवं Poales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Chordata एवं Arthropoda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Primata एवं Carnivora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Order Primata (monkey, gorilla, gibbon) is placed in class Mammalia along with order Carnivora (tiger, cat, dog).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54 — 🐟 संघ Chordata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मछली, उभयचर, सरीसृप, पक्षी एवं स्तनधारी सभी Phylum Chordata में क्यों रखे जाते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सभी में पंख होते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नोटोकॉर्ड एवं पृष्ठीय नलोद (dorsal hollow) तंत्रिका तंत्र की उपस्थिति के कारण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सभी में फेफड़े होते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सभी का रक्त लाल होता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नोटोकॉर्ड एवं पृष्ठीय नलोद (dorsal hollow) तंत्रिका तंत्र की उपस्थिति के कारण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Common features like presence of notochord and dorsal hollow neural system place them in phylum Chordata.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55 — 📉 कोटि एवं लक्षण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वर्गीक्रम में जैसे-जैसे हम जाति से जगत (higher category) की ओर बढ़ते हैं, तो—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साझा लक्षणों की संख्या घटती है एवं संबंध तय करना कठिन होता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साझा लक्षण बढ़ते जाते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जीवों का आकार बढ़ता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कोई परिवर्तन नहीं होता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साझा लक्षणों की संख्या घटती है एवं संबंध तय करना कठिन होता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As we go higher from species to kingdom, the number of common characteristics goes on decreasing.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56 — 🧬 समानता का स्तर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दो जीवों में सर्वाधिक संख्या में समान लक्षण मिलेंगे, यदि वे एक ही 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जगत के हों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कुल के हों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गोत्र के हों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जाति (species) के हों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(D) जाति (species) के हों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Lower the taxa, more are the characteristics that the members within the taxon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57 — 🧍 Table 1.1 – Man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की Table 1.1 के अनुसार मनुष्य (Homo sapiens) का क्रम (Order)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Carnivora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Primata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Diptera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Rosales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Primata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Man: Genus Homo → Family Hominidae → Order Primata → Class Mammalia → Phylum Chordata.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58 — 🪰 Table 1.1 – Housefly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गृहमख्खी (Musca domestica) का क्रम (Order)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Diptera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Lepidoptera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Hymenoptera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Coleoptera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Diptera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Housefly: Family Muscidae → Order Diptera → Class Insecta → Phylum Arthropoda.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59 — 🌾 Table 1.1 – Wheat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गेहूँ (Triticum aestivum) का कुल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Solanaceae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Poaceae (Gramineae)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Rosaceae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Asteraceae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Poaceae (Gramineae)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Wheat: Genus Triticum → Family Poaceae → Order Poales → Class Monocotyledones.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60 — 🥭 Table 1.1 – Mango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आम (Mangifera indica) का कुल तथा क्रम क्रमशः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Anacardiaceae, Sapindales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Sapindaceae, Rosales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Annonaceae, Polymoniales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Rutaceae, Primata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Anacardiaceae, Sapindales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Mango (Table 1.1): Family Anacardiaceae → Order Sapindales → Class Dicotyledones → Division Angiospermae.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61 — 👑 जगत (Kingdom)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वर्गीक्रम की सर्वोच्च (सबसे बड़ी) कोटि कौन-सी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जगत (Kingdom)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कुल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गोत्र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क्रम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जगत (Kingdom)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All animals of various phyla are assigned to the highest category, Kingdom Animalia; similarly Kingdom Plantae.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62 — 🌿 गोत्र की अवधारणा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के अनुसार 'गोत्र (Genus)' के संबंध में सही कथन चुनिए—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प्रत्येक गोत्र में केवल एक ही जाति होती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प्रत्येक गोत्र में एक या एक से अधिक जातियाँ हो सकती हैं, जिनमें आकृतिक समानता होती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गोत्र में केवल दो जातियाँ होती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गोत्र में केवल कुल का नाम होता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प्रत्येक गोत्र में एक या एक से अधिक जातियाँ हो सकती हैं, जिनमें आकृतिक समानता होती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Each genus may have one or more specific epithets representing different organisms, but having morphological similarities.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63 — 🐜 आधार-लक्षण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कीटों को एक सुनिश्चित समूह (कोटि) में रखने का NCERT-उद्धृत आधार-लक्षण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तीन जोड़े जोड़-युक्त पैर (three pairs of jointed legs)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दो जोड़े पंख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शरीर का हरा रंग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जल में निवास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तीन जोड़े जोड़-युक्त पैर (three pairs of jointed legs)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Insects represent a group of organisms sharing common features like three pairs of jointed legs.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64 — 🦆 आदिम लक्षण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अंडा देने वाले प्लैटिपस एवं काँटेदार सूअर-चींटी (spiny anteater) में सरीसृप-सदृश लक्षण (शल्क, क्लोएका) का वर्गीकरण में महत्व क्या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इसलिए उन्हें सरीसृप माना जाता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इसलिए उन्हें पक्षी माना जाता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ये आदिम/पूर्वज लक्षण जातिवृत्तीय (evolutionary) संबंध समझने में सहायक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इनका वर्गीकरण पर कोई प्रभाव नहीं पड़ता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ये आदिम/पूर्वज लक्षण जातिवृत्तीय (evolutionary) संबंध समझने में सहायक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Retained ancestral characters give information about evolution and are useful in modern-day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65 — 👑 द्वि-जगत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प्रारंभिक 'द्वि-जगत' (two kingdom) वर्गीकरण किन दो समूहों पर आधारित था?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पादप जगत एवं जंतु जगत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सूक्ष्मजीव एवं स्तनधारी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फफूंद एवं विषाणु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एककोशिकीय एवं बहुकोशिकीय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पादप जगत एवं जंतु जगत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Earlier classification divided the living world into two kingdoms — Plantae and Animalia.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66 — 🖐️ पाँच जगत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पाँच जगत (five kingdom) वर्गीकरण किसने तथा कब प्रस्तुत किया?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लिनियस ने, 1735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आर.एच. विटकर ने, 1969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कार्ल वूज ने, 1990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हैकेल ने, 1866 में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आर.एच. विटकर ने, 1969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R.H. Whittaker (1969) proposed the five-kingdom classification of organisms.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67 — 🖐️ पाँच जगत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विटकर के पाँचों जगतों का सही क्रम (सरल से जटिल)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Monera, Protista, Fungi, Plantae, Animalia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Fungi, Monera, Plantae, Animalia, Protista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Protista, Fungi, Monera, Animalia, Plantae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Plantae, Monera, Animalia, Fungi, Protista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Monera, Protista, Fungi, Plantae, Animalia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Kingdoms: Monera → Protista → Fungi → Plantae → Animalia.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68 — 🦠 विषाणु एवं जगत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निम्न में से कौन-सा विटकर के पाँच जगतों में शामिल नहीं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Monera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Protista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Fungi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विषाणु (Virus) का जगत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(D) विषाणु (Virus) का जगत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पाँच जगत वर्गीकरण में विषाणु को अलग जगत नहीं दिया गया; वे अकोशिकीय (non-cellular) हैं।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69 — 🧾 वर्गीकरण का आधार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विटकर के वर्गीकरण का आधार कौन-सा नहीं था?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कोशिका का प्रकार (prokaryotic/eukaryotic)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कोशिका भित्ति की उपस्थिति-अनुपस्थिति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पोषण की पद्धति एवं शारीरिक संगठन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शरीर का रंग एवं सुगंध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(D) शरीर का रंग एवं सुगंध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Basis — cell type, cell wall, mode of nutrition, body organisation and phylogeny; रंग/सुगंध नहीं।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70 — 🧬 तीन डोमेन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तीन-डोमेन (three domain) वर्गीकरण किसने प्रस्तावित किया?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कार्ल वूज (Carl Woese)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कैरोलस लिनियस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आर.एच. विटकर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बेंथम एवं हुकर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कार्ल वूज (Carl Woese)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Carl Woese (1990) — three domains on the basis of phylogenetic structure (rRNA sequence).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71 — 🧬 तीन डोमेन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वूज के तीन डोमेनों में से कौन-सा नहीं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Archaea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Bacteria (Eubacteria)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Eukarya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Fungi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(D) Fungi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तीन डोमेन — Archaea, Bacteria एवं Eukarya; Fungi तो Eukarya के अंतर्गत एक जगत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72 — 🎭 कृत्रिम पद्धति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'कृत्रिम वर्गीकरण पद्धति (artificial system)' की मुख्य विशेषता क्या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कुछ सुलभ बाह्य/आकृतिक लक्षणों पर आधारित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जातिवृत्तीय संबंधों पर आधारित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rRNA अनुक्रम पर आधारित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आनुवंशिकी पर आधारित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केवल कुछ सुलभ बाह्य/आकृतिक लक्षणों पर आधारित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Artificial systems relied on a few easily observable superficial characters — e.g., Linnaeus's sexual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73 — 🌼 यौन पद्धति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लिनियस की 'यौन पद्धति (sexual system)' मुख्यतः किस दल की संरचना पर आधारित थी?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पुंकेसर एवं मादा-केसर (androecium/gynoecium)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बीजावर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जड़-तंत्र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बीजफलक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पुंकेसर एवं मादा-केसर (androecium/gynoecium)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Linnaeus classified plants mainly on the basis of number and arrangement of stamens and carpels.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74 — 🌳 प्राकृतिक/जातिवृत्तीय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'प्राकृतिक' एवं 'जातिवृत्तीय (phylogenetic)' वर्गीकरण में मुख्य अंतर क्या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प्राकृतिक में केवल एक लक्षण प्रयुक्त होता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प्राकृतिक अनेक सहसंबद्ध लक्षणों पर, जबकि जातिवृत्तीय विकास एवं आनुवंशिक संबंधों पर आधारित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दोनों पूर्णतः समान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जातिवृत्तीय केवल पादपों हेतु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प्राकृतिक अनेक सहसंबद्ध लक्षणों पर, जबकि जातिवृत्तीय विकास एवं आनुवंशिक संबंधों पर आधारित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Natural systems use many correlated characters; phylogenetic systems try to reflect evolutionary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75 — 🧰 वर्गीकीय सहायक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के अनुसार 'वर्गीकीय सहायक (taxonomical aids)' में क्या-क्या शामिल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हर्बेरियम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हर्बेरियम, वनस्पति उद्यान, संग्रहालय, कुंजी (keys) एवं साहित्य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कुंजी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फूलों का संग्रह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हर्बेरियम, वनस्पति उद्यान, संग्रहालय, कुंजी (keys) एवं साहित्य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Herbarium, botanical gardens, museums, keys and literature are some important taxonomical aids.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76 — 🍃 हर्बेरियम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'हर्बेरियम (herbarium)' की सही परिभाषा है—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जीवित पादपों का उद्यान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संग्रहित पादप-नमूनों का भंडार — जो शुष्क, पीसे एवं पत्रकों पर संरक्षित होते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कीटों का डिब्बा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पुस्तकों का संग्रह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संग्रहित पादप-नमूनों का भंडार — जो शुष्क, पीसे एवं पत्रकों पर संरक्षित होते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A herbarium is a store house of collected plant specimens that are dried, pressed and preserved on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77 — 🍃 हर्बेरियम-व्यवस्था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हर्बेरियम के पत्रक (sheets) किसके अनुसार व्यवस्थित रखे जाते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वर्णक्रम (A–Z)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सर्व स्वीकृत (universally accepted) वर्गीकरण पद्धति के अनुसार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नमूनों के आकार के क्रम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संग्रहकर्ता के जिले के अनुसार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सर्व स्वीकृत (universally accepted) वर्गीकरण पद्धति के अनुसार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The sheets are arranged according to a universally accepted system of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78 — 🏷️ हर्बेरियम लेबल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हर्बेरियम-पत्रक के लेबल पर सामान्यतः कौन-सा विवरण दर्ज नहीं किया जाता?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कुल, गोत्र, जाति एवं variety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स्थानीय नाम तथा उपयोगी भाग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एकत्रण की तिथि, आवास एवं वितरण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शीट बनाने वाले व्यक्ति की आयु एवं वजन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(D) शीट बनाने वाले व्यक्ति की आयु एवं वजन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लेबल पर: field catalogue क्रमांक, family, genus, species, variety, local name, useful parts, collection date, habitat,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79 — 🗂️ हर्बेरियम निर्माण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हर्बेरियम नमूना तैयार करने का सही क्रम चुनिए—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संग्रहण → प्रेस में दबाकर सुखाना → पत्रक पर स्थिर (fix) → लेबल लगाकर संग्रह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लेबल → संग्रहण → सुखाना → पत्रक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पत्रक → संग्रहण → प्रेस → सुखाना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सुखाना → लेबल → पत्रक → संग्रहण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संग्रहण → प्रेस में दबाकर सुखाना → पत्रक पर स्थिर (fix) → लेबल लगाकर संग्रह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Specimens are prepared by collecting, pressing and preserving plant material, then fixed on sheets and labelled.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80 — 📐 शीट का आकार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मानक हर्बेरियम शीट (sheet) का आकार लगभग कितना होता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41 × 29 से.मी.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10 × 8 से.मी.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100 × 60 से.मी.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5 × 4 से.मी.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41 × 29 से.मी.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व्यावहारिक मानक — लगभग 41 × 29 से.मी. (16 × 11 इंच) की शीट प्रयोग की जाती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81 — 🌴 वनस्पति उद्यान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'वनस्पति उद्यान (botanical garden)' की मुख्य विशेषता क्या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सूखे नमूने रखे जाते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जीवित पादप — प्रत्येक पर वैज्ञानिक एवं सामान्य नाम का लेबल; कुलवार जोनों में रोपण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कीट-संग्रह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औषधि-विक्रय केन्द्र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जीवित पादप — प्रत्येक पर वैज्ञानिक एवं सामान्य नाम का लेबल; कुलवार जोनों में रोपण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Botanical gardens contain living plants for reference; each plant labelled with scientific and common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82 — 🌿 Kew Gardens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लंदन के समीपस्थ 'क्यू (Kew)' वनस्पति उद्यान के संबंध में सही कथन चुनिए—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स्थापना 1759; संग्रह में 45,000 से अधिक पादप जातियाँ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स्थापना 1859; 4,500 जातियाँ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स्थापना 1969; 45,000 जातियाँ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स्थापना 1735; 1,700 जातियाँ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स्थापना 1759; संग्रह में 45,000 से अधिक पादप जातियाँ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Kew, established in 1759, has over 45,000 species of plant in its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83 — 🌴 शिबपुर उद्यान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शिबपुर (हावड़ा) के 'इंडियन बॉटनिकल गार्डन' की स्थापना किस वर्ष हुई थी?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1787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1857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1947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1759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1787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The Indian Botanical Garden at Shibpur, Howrah was established in 1787.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84 — 🏆 बृहत्तम हर्बेरियम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के अनुसार विश्व का सबसे बड़ा हर्बेरियम कहां स्थित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क्यू (Kew), इंग्लैंड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न्यूयॉर्क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पेरिस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वाशिंगटन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क्यू (Kew), इंग्लैंड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The largest herbarium of the world is at Kew (England).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85 — 🏛️ संग्रहालय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संग्रहालय (museum) में बड़े स्तनधारी प्राणियों के नमूने सामान्यतः किस अवस्था में रखे जाते हैं?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जल में डुबोकर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भरे-पूरे (stuffed) अवस्था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मिट्टी में दबाकर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धूप में सुखाकर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भरे-पूरे (stuffed) अवस्था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Some specimens are preserved in dry form, others in liquid; very large animals are preserved in a stuffed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86 — 🧪 संरक्षण द्रव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संग्रहालय में नमूनों को द्रव रूप में सुरक्षित रखने के लिए NCERT में कौन-सा उदाहरण दिया गया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70% एल्कोहॉल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सांद्र सल्फ्यूरिक अम्ल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आसुत जल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ग्लूकोज विलयन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70% एल्कोहॉल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Some specimens are preserved in liquid, e.g., 70% alcohol.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87 — 🦋 कीट-बॉक्स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कीटों (insects) के नमूनों के संग्रहण का सही विवरण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पानी की बोतल में रखे जाते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संग्रहण → killing → preserving → insect boxes में संग्रह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मिट्टी में दबाए जाते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पत्तों पर छोड़ दिए जाते हैं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संग्रहण → killing → preserving → insect boxes में संग्रह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Insects are collected, killed and preserved and stored in insect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88 — 🔑 कुंजी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'कुंजी (key)' का सर्वाधिक उपयुक्त वर्णन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वर्णनात्मक (descriptive) ग्रंथ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विश्लेषणात्मक (analytical) स्वरूप की पहचान-सहायक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नामकरण के नियम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जीवाश्मों की पुस्तिका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विश्लेषणात्मक (analytical) स्वरूप की पहचान-सहायक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A key is analytical in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89 — 🔑 कुंजी का आधार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कुंजी द्वारा किसी जीव की पहचान/नाम-निर्धारण किस पर आधारित होता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आकार एवं रंग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जीवों के बीच समानता एवं विसंगति (similarities and dissimilarities)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आवास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आर्थिक उपयोग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जीवों के बीच समानता एवं विसंगति (similarities and dissimilarities)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The identification or determination of the name of an organism is based on similarities and dissimilarities.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90 — 🔑 Couplet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कुंजी (key) में दो विपरीत (opposing) कथनों के जोड़े को क्या कहा जाता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Couplet (युग्मक)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Diagnosis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Flora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Index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(A) Couplet (युग्मक)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In each couplet, two opposing statements are used to identify a taxon; every couplet refers to two taxa.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91 — 🔑 कुंजी का स्वरूप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कुंजी के बारे में सही कथन चुनिए—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कुंजी लक्षणों का पूर्ण वर्णन प्रदान करती है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एक ही कुंजी से सभी वर्गीकोटियाँ पहचानी जा सकती हैं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एक युग्मक में एक विकल्प चुनने का अर्थ है दूसरा विकल्प अस्वीकार करना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कुंजी केवल जंतुओं के लिए बनाई जाती है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(C) एक युग्मक में एक विकल्प चुनने का अर्थ है दूसरा विकल्प अस्वीकार करना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While selecting one option from a couplet means rejecting the other choice; separate keys are needed for different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92 — 🔑 B&amp;H पद्धति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भारत में पुष्पीय पादपों के कुलों के निर्धारण के लिए प्रयुक्त कुंजी किस वर्गीकरण पद्धति का अनुसरण करती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हचिसन की पद्धति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बेंथम एवं हुकर (Bentham &amp; Hooker) की पद्धति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एंगलर एवं प्रांटल की पद्धति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लिनियस की यौन पद्धति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बेंथम एवं हुकर (Bentham &amp; Hooker) की पद्धति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NCERT: keys leading to determination of families of angiosperms, in common use in India, follow Bentham &amp; Hooker's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93 — 🌺 Flora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किसी निर्दिष्ट क्षेत्र के पादपों का वंशवार, कुलवार तथा आवास-क्षेत्रवार सूची-वर्णन कहलाता है—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Manual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Flora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Key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Index Herbariorum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Flora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Flora: the genus-wise, family-wise and habitat &amp; region wise listing of plants of a specified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94 — 📘 Manual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आर्थिक रूप से महत्वपूर्ण पादपों के नामों की पहचान के लिए किस साहित्य का प्रयोग होता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Monograph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Manual (मैनुअल)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Flora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Periodical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Manual (मैनुअल)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Manuals specifically contain data for the identification of names of economically important plants.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95 — 📕 Monograph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किसी एक वर्गीकोटि (जैसे एक कुल या एक गोत्र) का समग्र विवरण — वर्णन, वितरण, रचना-विज्ञान, भ्रूणविज्ञान, उपयोग, आर्थिक महत्व — कहां मिलता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Flora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Monograph (एकात्मिका)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Index Herbariorum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Manual में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Monograph (एकात्मिका) में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Monograph covers information on any one taxonomic category with complete detail and reference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96 — 🗃️ Index Herbariorum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'Index Herbariorum' प्रकाशन किसके संबंध में सूचना देता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पादप रोगों की सूची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विश्व के हर्बेरियम — उनका स्थान, संग्रह की वृद्धि एवं विशेषज्ञता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कीटों का वर्गीकरण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वनस्पति उद्यानों का मानचित्र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विश्व के हर्बेरियम — उनका स्थान, संग्रह की वृद्धि एवं विशेषज्ञता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It deals with information about the herbaria of the world, their location, status of collections and specialisation.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97 — 🚫 सहायक नहीं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निम्न में से कौन वर्गीकीय सहायक (taxonomical aid) नहीं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हर्बेरियम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कुंजी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वनस्पति उद्यान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प्रकाश-संश्लेषण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(D) प्रकाश-संश्लेषण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प्रकाश-श्लेषण एक शारीरिक (physiological) क्रिया है, वर्गीकीय सहायक नहीं।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98 — 🔎 क्षेत्र-अध्ययन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जंगली घास के अज्ञात नमूने की सही पहचान हेतु छात्र को सर्वप्रथम किसका उपयोग करना चाहिए?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खाद का विश्लेषण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हर्बेरियम के संग्रह एवं वर्गीकीय कुंजी का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जल-आपूर्ति का रिकॉर्ड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तापमापी यंत्र का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हर्बेरियम के संग्रह एवं वर्गीकीय कुंजी का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Herbarium provides quick referral and keys are analytical tools for identification.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99 — ⚠️ युग्म-मिलान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निम्न में से असंगत (गलत) युग्म कौन-सा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Mangifera – Anacardiaceae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Triticum – Poaceae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Musca – Muscidae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Felis – Canidae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(D) Felis – Canidae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Felis (बिल्ली) कुल Felidae से संबद्ध है; Canidae कुत्ते (Canis) का कुल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hi-IN" altLang="en-US">
                <a:latin typeface="Nirmala UI"/>
                <a:ea typeface="Nirmala UI"/>
                <a:cs typeface="Nirmala UI"/>
              </a:rPr>
              <a:t>प्रश्न 100 — 🧪 आधुनिक वर्गीकरण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NCERT के अनुसार आधुनिक वर्गीकरण-अध्ययनों (taxonomy) का आधार क्या है?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A. केवल बाह्य रंग एवं आकार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B. बाह्य-आंतरिक संरचना, कोशिका की संरचना, विकास-प्रक्रिया एवं पारिस्थितिक सूचना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C. केवल बीज का आकार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D. केवल आर्थिक उपयोग</a:t>
            </a:r>
          </a:p>
          <a:p/>
          <a:p>
            <a:r>
              <a:rPr lang="hi-IN" altLang="en-US">
                <a:latin typeface="Nirmala UI"/>
                <a:ea typeface="Nirmala UI"/>
                <a:cs typeface="Nirmala UI"/>
              </a:rPr>
              <a:t>उत्तर : (B) बाह्य-आंतरिक संरचना, कोशिका की संरचना, विकास-प्रक्रिया एवं पारिस्थितिक सूचना</a:t>
            </a:r>
          </a:p>
          <a:p>
            <a:r>
              <a:rPr lang="hi-IN" altLang="en-US">
                <a:latin typeface="Nirmala UI"/>
                <a:ea typeface="Nirmala UI"/>
                <a:cs typeface="Nirmala UI"/>
              </a:rPr>
              <a:t>कारण : External and internal structure, cell structure, development process and ecological information form the basis of modern taxonomic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42000">
                <a:srgbClr val="FFE3B8"/>
              </a:gs>
              <a:gs pos="100000">
                <a:srgbClr val="FFFFFF"/>
              </a:gs>
            </a:gsLst>
            <a:lin ang="756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19456"/>
            <a:ext cx="11643055" cy="1005840"/>
          </a:xfrm>
          <a:prstGeom prst="roundRect">
            <a:avLst>
              <a:gd name="adj" fmla="val 20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680000" scaled="1"/>
          </a:gradFill>
          <a:ln>
            <a:noFill/>
          </a:ln>
          <a:effectLst>
            <a:outerShdw blurRad="91440" dist="36576" dir="5400000" rotWithShape="0">
              <a:srgbClr val="14143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64008" bIns="0"/>
          <a:lstStyle/>
          <a:p>
            <a:pPr algn="ctr">
              <a:lnSpc>
                <a:spcPct val="100000"/>
              </a:lnSpc>
            </a:pPr>
            <a:r>
              <a:rPr sz="31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5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pic>
        <p:nvPicPr>
          <p:cNvPr id="11" name="Picture 10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846320" cy="3230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1572768"/>
            <a:ext cx="6217920" cy="13350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जैव विज्ञान  •  कक्षा 11</a:t>
            </a:r>
            <a:br>
              <a:rPr sz="190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</a:br>
            <a:r>
              <a:rPr sz="2500" b="1" i="0" lang="hi-IN" altLang="en-US">
                <a:solidFill>
                  <a:srgbClr val="17324F"/>
                </a:solidFill>
                <a:latin typeface="Nirmala UI"/>
                <a:ea typeface="Nirmala UI"/>
                <a:cs typeface="Nirmala UI"/>
              </a:rPr>
              <a:t>अध्याय 1 : </a:t>
            </a:r>
            <a:r>
              <a:rPr sz="38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जैव जगत</a:t>
            </a:r>
            <a:r>
              <a:rPr sz="1700" b="1" i="1" lang="hi-IN" altLang="en-US">
                <a:solidFill>
                  <a:srgbClr val="3B5A78"/>
                </a:solidFill>
                <a:latin typeface="Nirmala UI"/>
                <a:ea typeface="Nirmala UI"/>
                <a:cs typeface="Nirmala UI"/>
              </a:rPr>
              <a:t>   The Living 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44368"/>
            <a:ext cx="6217920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lang="hi-IN" altLang="en-US">
                <a:solidFill>
                  <a:srgbClr val="D62828"/>
                </a:solidFill>
                <a:latin typeface="Nirmala UI"/>
                <a:ea typeface="Nirmala UI"/>
                <a:cs typeface="Nirmala UI"/>
              </a:rPr>
              <a:t>100 </a:t>
            </a:r>
            <a:r>
              <a:rPr sz="2200" b="1" i="0" lang="hi-IN" altLang="en-US">
                <a:solidFill>
                  <a:srgbClr val="17324F"/>
                </a:solidFill>
                <a:latin typeface="Nirmala UI"/>
                <a:ea typeface="Nirmala UI"/>
                <a:cs typeface="Nirmala UI"/>
              </a:rPr>
              <a:t>वस्तुनिष्ठ प्रश्न </a:t>
            </a:r>
            <a:r>
              <a:rPr sz="17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(BSEB Board Level)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39312"/>
            <a:ext cx="2999232" cy="402336"/>
          </a:xfrm>
          <a:prstGeom prst="roundRect">
            <a:avLst>
              <a:gd name="adj" fmla="val 42000"/>
            </a:avLst>
          </a:prstGeom>
          <a:solidFill>
            <a:srgbClr val="FFFFFF"/>
          </a:solidFill>
          <a:ln w="1651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54864" tIns="0" bIns="0"/>
          <a:lstStyle/>
          <a:p>
            <a:pPr algn="l">
              <a:lnSpc>
                <a:spcPct val="100000"/>
              </a:lnSpc>
            </a:pPr>
            <a:r>
              <a:rPr sz="1200" b="1" i="0" lang="hi-IN" altLang="en-US">
                <a:solidFill>
                  <a:srgbClr val="17324F"/>
                </a:solidFill>
                <a:latin typeface="Nirmala UI"/>
                <a:ea typeface="Nirmala UI"/>
                <a:cs typeface="Nirmala UI"/>
              </a:rPr>
              <a:t>  BSEB कक्षा 11 • अध्याय-आधारित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762756"/>
            <a:ext cx="155448" cy="1554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94176" y="3639312"/>
            <a:ext cx="2999232" cy="402336"/>
          </a:xfrm>
          <a:prstGeom prst="roundRect">
            <a:avLst>
              <a:gd name="adj" fmla="val 42000"/>
            </a:avLst>
          </a:prstGeom>
          <a:solidFill>
            <a:srgbClr val="FFFFFF"/>
          </a:solidFill>
          <a:ln w="1651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54864" tIns="0" bIns="0"/>
          <a:lstStyle/>
          <a:p>
            <a:pPr algn="l">
              <a:lnSpc>
                <a:spcPct val="100000"/>
              </a:lnSpc>
            </a:pPr>
            <a:r>
              <a:rPr sz="1200" b="1" i="0" lang="hi-IN" altLang="en-US">
                <a:solidFill>
                  <a:srgbClr val="17324F"/>
                </a:solidFill>
                <a:latin typeface="Nirmala UI"/>
                <a:ea typeface="Nirmala UI"/>
                <a:cs typeface="Nirmala UI"/>
              </a:rPr>
              <a:t>  प्रति स्लाइड 1 प्रश्न + 4 विकल्प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3762756"/>
            <a:ext cx="155448" cy="155448"/>
          </a:xfrm>
          <a:prstGeom prst="ellipse">
            <a:avLst/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142232"/>
            <a:ext cx="2999232" cy="402336"/>
          </a:xfrm>
          <a:prstGeom prst="roundRect">
            <a:avLst>
              <a:gd name="adj" fmla="val 42000"/>
            </a:avLst>
          </a:prstGeom>
          <a:solidFill>
            <a:srgbClr val="FFFFFF"/>
          </a:solidFill>
          <a:ln w="1651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54864" tIns="0" bIns="0"/>
          <a:lstStyle/>
          <a:p>
            <a:pPr algn="l">
              <a:lnSpc>
                <a:spcPct val="100000"/>
              </a:lnSpc>
            </a:pPr>
            <a:r>
              <a:rPr sz="1200" b="1" i="0" lang="hi-IN" altLang="en-US">
                <a:solidFill>
                  <a:srgbClr val="17324F"/>
                </a:solidFill>
                <a:latin typeface="Nirmala UI"/>
                <a:ea typeface="Nirmala UI"/>
                <a:cs typeface="Nirmala UI"/>
              </a:rPr>
              <a:t>  उत्तर + संक्षिप्त कारण सहित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4265676"/>
            <a:ext cx="155448" cy="1554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94176" y="4142232"/>
            <a:ext cx="2999232" cy="402336"/>
          </a:xfrm>
          <a:prstGeom prst="roundRect">
            <a:avLst>
              <a:gd name="adj" fmla="val 42000"/>
            </a:avLst>
          </a:prstGeom>
          <a:solidFill>
            <a:srgbClr val="FFFFFF"/>
          </a:solidFill>
          <a:ln w="1651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54864" tIns="0" bIns="0"/>
          <a:lstStyle/>
          <a:p>
            <a:pPr algn="l">
              <a:lnSpc>
                <a:spcPct val="100000"/>
              </a:lnSpc>
            </a:pPr>
            <a:r>
              <a:rPr sz="1200" b="1" i="0" lang="hi-IN" altLang="en-US">
                <a:solidFill>
                  <a:srgbClr val="17324F"/>
                </a:solidFill>
                <a:latin typeface="Nirmala UI"/>
                <a:ea typeface="Nirmala UI"/>
                <a:cs typeface="Nirmala UI"/>
              </a:rPr>
              <a:t>  NCERT तथ्यों पर पूर्णतः आधारित</a:t>
            </a:r>
          </a:p>
        </p:txBody>
      </p:sp>
      <p:sp>
        <p:nvSpPr>
          <p:cNvPr id="21" name="Oval 20"/>
          <p:cNvSpPr/>
          <p:nvPr/>
        </p:nvSpPr>
        <p:spPr>
          <a:xfrm>
            <a:off x="3803904" y="4265676"/>
            <a:ext cx="155448" cy="1554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645152"/>
            <a:ext cx="2999232" cy="402336"/>
          </a:xfrm>
          <a:prstGeom prst="roundRect">
            <a:avLst>
              <a:gd name="adj" fmla="val 42000"/>
            </a:avLst>
          </a:prstGeom>
          <a:solidFill>
            <a:srgbClr val="FFFFFF"/>
          </a:solidFill>
          <a:ln w="1651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54864" tIns="0" bIns="0"/>
          <a:lstStyle/>
          <a:p>
            <a:pPr algn="l">
              <a:lnSpc>
                <a:spcPct val="100000"/>
              </a:lnSpc>
            </a:pPr>
            <a:r>
              <a:rPr sz="1200" b="1" i="0" lang="hi-IN" altLang="en-US">
                <a:solidFill>
                  <a:srgbClr val="17324F"/>
                </a:solidFill>
                <a:latin typeface="Nirmala UI"/>
                <a:ea typeface="Nirmala UI"/>
                <a:cs typeface="Nirmala UI"/>
              </a:rPr>
              <a:t>  छोटे आरेख, चित्र व टैग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768596"/>
            <a:ext cx="155448" cy="1554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94176" y="4645152"/>
            <a:ext cx="2999232" cy="402336"/>
          </a:xfrm>
          <a:prstGeom prst="roundRect">
            <a:avLst>
              <a:gd name="adj" fmla="val 42000"/>
            </a:avLst>
          </a:prstGeom>
          <a:solidFill>
            <a:srgbClr val="FFFFFF"/>
          </a:solidFill>
          <a:ln w="1651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54864" tIns="0" bIns="0"/>
          <a:lstStyle/>
          <a:p>
            <a:pPr algn="l">
              <a:lnSpc>
                <a:spcPct val="100000"/>
              </a:lnSpc>
            </a:pPr>
            <a:r>
              <a:rPr sz="1200" b="1" i="0" lang="hi-IN" altLang="en-US">
                <a:solidFill>
                  <a:srgbClr val="17324F"/>
                </a:solidFill>
                <a:latin typeface="Nirmala UI"/>
                <a:ea typeface="Nirmala UI"/>
                <a:cs typeface="Nirmala UI"/>
              </a:rPr>
              <a:t>  अंत में सम्पूर्ण उत्तर-कुंजी</a:t>
            </a:r>
          </a:p>
        </p:txBody>
      </p:sp>
      <p:sp>
        <p:nvSpPr>
          <p:cNvPr id="25" name="Oval 24"/>
          <p:cNvSpPr/>
          <p:nvPr/>
        </p:nvSpPr>
        <p:spPr>
          <a:xfrm>
            <a:off x="3803904" y="4768596"/>
            <a:ext cx="155448" cy="155448"/>
          </a:xfrm>
          <a:prstGeom prst="ellipse">
            <a:avLst/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248656"/>
            <a:ext cx="6035040" cy="932688"/>
          </a:xfrm>
          <a:prstGeom prst="roundRect">
            <a:avLst>
              <a:gd name="adj" fmla="val 1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440000" scaled="1"/>
          </a:gradFill>
          <a:ln>
            <a:noFill/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 tIns="36576" bIns="36576"/>
          <a:lstStyle/>
          <a:p>
            <a:pPr algn="l">
              <a:lnSpc>
                <a:spcPct val="104000"/>
              </a:lnSpc>
            </a:pPr>
            <a:r>
              <a:rPr sz="130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उपयोग विधि :  </a:t>
            </a:r>
            <a:r>
              <a:rPr sz="1250" b="0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प्रथम विकल्प स्वयं चुनिए, तत्पश्चात् नीचे दिए </a:t>
            </a:r>
            <a:r>
              <a:rPr sz="1250" b="1" i="0" lang="hi-IN" altLang="en-US">
                <a:solidFill>
                  <a:srgbClr val="FFF3B0"/>
                </a:solidFill>
                <a:latin typeface="Nirmala UI"/>
                <a:ea typeface="Nirmala UI"/>
                <a:cs typeface="Nirmala UI"/>
              </a:rPr>
              <a:t>✅ उत्तर</a:t>
            </a:r>
            <a:r>
              <a:rPr sz="1250" b="0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 व कारण से मिलाइए। हर 25 प्रश्न पर एक बार रिवीज़न ज़रूर करें।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074920"/>
            <a:ext cx="4892040" cy="11887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100 प्रश्न • 100 स्लाइड • उत्तर-कुंजी सहित</a:t>
            </a:r>
            <a:br>
              <a:rPr sz="125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</a:br>
            <a:r>
              <a:rPr sz="1200" b="1" i="0" lang="hi-IN" altLang="en-US">
                <a:solidFill>
                  <a:srgbClr val="37475E"/>
                </a:solidFill>
                <a:latin typeface="Nirmala UI"/>
                <a:ea typeface="Nirmala UI"/>
                <a:cs typeface="Nirmala UI"/>
              </a:rPr>
              <a:t>तैयार : DREAM CLASSES KOTHWARA</a:t>
            </a:r>
            <a:br>
              <a:rPr sz="1200" b="1" i="0" lang="hi-IN" altLang="en-US">
                <a:solidFill>
                  <a:srgbClr val="37475E"/>
                </a:solidFill>
                <a:latin typeface="Nirmala UI"/>
                <a:ea typeface="Nirmala UI"/>
                <a:cs typeface="Nirmala UI"/>
              </a:rPr>
            </a:br>
            <a:r>
              <a:rPr sz="1200" b="1" i="0" lang="hi-IN" altLang="en-US">
                <a:solidFill>
                  <a:srgbClr val="37475E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3845" y="1842516"/>
            <a:ext cx="1347225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🪨 जीव एवं अजीव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निम्नलिखित में से कौन-सी अजड़ (non-living) वस्तु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आम का वृक्ष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पर्वत एवं चट्टान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मछली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अमीबा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पर्वत, चट्टान एवं बालू के टीले अजड़ हैं; ये सतह पर पदार्थ जमा होने से 'बढ़ते' दिखाई देते हैं।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28690" y="1842516"/>
            <a:ext cx="904236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🧠 चेतना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NCERT के अनुसार जीवित वस्तुओं का सर्वाधिक निर्णायक लक्षण (defining property)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D7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केवल वृद्धि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केवल प्रजनन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चेतना – पर्यावरण को अनुभूत कर अनुक्रिया करना</a:t>
            </a:r>
          </a:p>
        </p:txBody>
      </p:sp>
      <p:sp>
        <p:nvSpPr>
          <p:cNvPr id="28" name="Oval 27"/>
          <p:cNvSpPr/>
          <p:nvPr/>
        </p:nvSpPr>
        <p:spPr>
          <a:xfrm>
            <a:off x="7967167" y="4689348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शरीर का रंग परिवर्तन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353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46970" y="198883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D7EC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वृद्धि (growth)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72702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FFE9A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प्रजनन (reproduction)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6970" y="346521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D8F8E5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चयापचय (metabolism)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6970" y="420340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FBD3E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चेतना (consciousness)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0983" y="495922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कोई एक लक्षण अकेला 'जीव' को परिभाषित नहीं करता —</a:t>
            </a:r>
          </a:p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सभी लक्षण सामूहिक रूप से जीवन दर्शाते हैं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Consciousness therefore, becomes the defining property of living organisms.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2 /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5758" y="1842516"/>
            <a:ext cx="1427168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🧩 जीवन के लक्षण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किसी एक लक्षण को आधार बनाकर 'जीव' की पूर्ण परिभाषा क्यों नहीं दी जा सकती?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क्योंकि प्रत्येक लक्षण में अपवाद मिलते हैं (जैसे वृद्धि, प्रजनन)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F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क्योंकि लक्षण मापने योग्य नहीं होते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क्योंकि सभी जीव अकोशिकीय हैं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क्योंकि वर्गीकरण ही असंभव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1B7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46970" y="198883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वृद्धि (growth)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72702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FFF0B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प्रजनन (reproduction)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6970" y="346521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चयापचय (metabolism)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6970" y="420340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F9D5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चेतना (consciousness)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0983" y="495922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कोई एक लक्षण अकेला 'जीव' को परिभाषित नहीं करता —</a:t>
            </a:r>
          </a:p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सभी लक्षण सामूहिक रूप से जीवन दर्शाते हैं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प्रत्येक एकल लक्षण कोई-न-कोई अपवाद रखता है; सभी लक्षण सामूहिक रूप से मिलकर जीवन को दर्शाते हैं।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3 /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1334" y="1842516"/>
            <a:ext cx="1169736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🧠 स्व-चेतना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स्व-चेतना (self-consciousness) किसमें पाई जाती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अमीबा 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F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पौधों में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केवल मनुष्य में</a:t>
            </a:r>
          </a:p>
        </p:txBody>
      </p:sp>
      <p:sp>
        <p:nvSpPr>
          <p:cNvPr id="28" name="Oval 27"/>
          <p:cNvSpPr/>
          <p:nvPr/>
        </p:nvSpPr>
        <p:spPr>
          <a:xfrm>
            <a:off x="11405311" y="456237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विषाणु में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Human being is the only organism who is aware of himself, i.e., has self-consciousness.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5476" y="1842516"/>
            <a:ext cx="1547450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🌱 अपरिमित वृद्धि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पौधों में वृद्धि के संबंध में सही कथन चुनिए।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केवल भ्रूण अवस्था में होती 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जीवन भर कोशिका-विभाजन से चलती रहती है (अपरिमित)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कुछ दिनों में स्थायी रूप से रुक जाती है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केवल जड़ में सीमित रहती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5A18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0983" y="2468742"/>
            <a:ext cx="2962655" cy="23088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वृद्धि = आंतरिक कोशिका-विभाजन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821475"/>
            <a:ext cx="1335975" cy="14109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4F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26335" y="3932583"/>
            <a:ext cx="196648" cy="176366"/>
          </a:xfrm>
          <a:prstGeom prst="rect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67075" y="3826763"/>
            <a:ext cx="196648" cy="282186"/>
          </a:xfrm>
          <a:prstGeom prst="rect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7815" y="3720944"/>
            <a:ext cx="196648" cy="388006"/>
          </a:xfrm>
          <a:prstGeom prst="rect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48555" y="3615124"/>
            <a:ext cx="196648" cy="493826"/>
          </a:xfrm>
          <a:prstGeom prst="rect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89296" y="3509304"/>
            <a:ext cx="196648" cy="599645"/>
          </a:xfrm>
          <a:prstGeom prst="rect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46970" y="4267680"/>
            <a:ext cx="1335975" cy="21168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पादप : अपरिमित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41676" y="2821475"/>
            <a:ext cx="1335975" cy="14109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9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21041" y="3914947"/>
            <a:ext cx="196648" cy="194003"/>
          </a:xfrm>
          <a:prstGeom prst="rect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1781" y="3738580"/>
            <a:ext cx="196648" cy="370369"/>
          </a:xfrm>
          <a:prstGeom prst="rect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02521" y="3615124"/>
            <a:ext cx="196648" cy="493826"/>
          </a:xfrm>
          <a:prstGeom prst="rect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43261" y="3606305"/>
            <a:ext cx="196648" cy="502644"/>
          </a:xfrm>
          <a:prstGeom prst="rect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84001" y="3606305"/>
            <a:ext cx="196648" cy="502644"/>
          </a:xfrm>
          <a:prstGeom prst="rect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41676" y="4267680"/>
            <a:ext cx="1335975" cy="21168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जंतु : सीमित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0983" y="4585139"/>
            <a:ext cx="2962655" cy="637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7B2CBF"/>
                </a:solidFill>
                <a:latin typeface="Nirmala UI"/>
                <a:ea typeface="Nirmala UI"/>
                <a:cs typeface="Nirmala UI"/>
              </a:rPr>
              <a:t>निर्जीव (पर्वत) — सतह पर जमाव से बढ़ता है;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7B2CBF"/>
                </a:solidFill>
                <a:latin typeface="Nirmala UI"/>
                <a:ea typeface="Nirmala UI"/>
                <a:cs typeface="Nirmala UI"/>
              </a:rPr>
              <a:t>जीवों में वृद्धि भीतर से — अतः वृद्धि एकल निर्णायक लक्षण नहीं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In plants, growth by cell division occurs continuously throughout their life span.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5 / 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5363" y="1842516"/>
            <a:ext cx="1387563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🐘 सीमित वृद्धि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जंतुओं में वृद्धि के संबंध में NCERT के अनुसार सही कथन है—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जीवन भर चलती रहती 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केवल एक निश्चित आयु तक; परंतु कुछ ऊतकों में विभाजन जारी रहता है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कभी नहीं होती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6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केवल अंडे के भीतर होती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0983" y="2468742"/>
            <a:ext cx="2962655" cy="23088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वृद्धि = आंतरिक कोशिका-विभाजन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821475"/>
            <a:ext cx="1335975" cy="14109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7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26335" y="3932583"/>
            <a:ext cx="196648" cy="176366"/>
          </a:xfrm>
          <a:prstGeom prst="rect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67075" y="3826763"/>
            <a:ext cx="196648" cy="282186"/>
          </a:xfrm>
          <a:prstGeom prst="rect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7815" y="3720944"/>
            <a:ext cx="196648" cy="388006"/>
          </a:xfrm>
          <a:prstGeom prst="rect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48555" y="3615124"/>
            <a:ext cx="196648" cy="493826"/>
          </a:xfrm>
          <a:prstGeom prst="rect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89296" y="3509304"/>
            <a:ext cx="196648" cy="599645"/>
          </a:xfrm>
          <a:prstGeom prst="rect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46970" y="4267680"/>
            <a:ext cx="1335975" cy="21168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पादप : अपरिमित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41676" y="2821475"/>
            <a:ext cx="1335975" cy="14109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F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21041" y="3914947"/>
            <a:ext cx="196648" cy="194003"/>
          </a:xfrm>
          <a:prstGeom prst="rect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1781" y="3738580"/>
            <a:ext cx="196648" cy="370369"/>
          </a:xfrm>
          <a:prstGeom prst="rect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02521" y="3615124"/>
            <a:ext cx="196648" cy="493826"/>
          </a:xfrm>
          <a:prstGeom prst="rect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43261" y="3606305"/>
            <a:ext cx="196648" cy="502644"/>
          </a:xfrm>
          <a:prstGeom prst="rect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84001" y="3606305"/>
            <a:ext cx="196648" cy="502644"/>
          </a:xfrm>
          <a:prstGeom prst="rect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41676" y="4267680"/>
            <a:ext cx="1335975" cy="21168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जंतु : सीमित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0983" y="4585139"/>
            <a:ext cx="2962655" cy="637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BC6C25"/>
                </a:solidFill>
                <a:latin typeface="Nirmala UI"/>
                <a:ea typeface="Nirmala UI"/>
                <a:cs typeface="Nirmala UI"/>
              </a:rPr>
              <a:t>निर्जीव (पर्वत) — सतह पर जमाव से बढ़ता है;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BC6C25"/>
                </a:solidFill>
                <a:latin typeface="Nirmala UI"/>
                <a:ea typeface="Nirmala UI"/>
                <a:cs typeface="Nirmala UI"/>
              </a:rPr>
              <a:t>जीवों में वृद्धि भीतर से — अतः वृद्धि एकल निर्णायक लक्षण नहीं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In animals growth is seen only up to a certain age; cell division occurs in certain tissues to replace lost cells.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 / 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9855" y="1842516"/>
            <a:ext cx="1801215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⚖️ वृद्धि बनाम प्रजनन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अधिकतर उच्च पादपों एवं जंतुओं में कौन-सी दो घटनाएँ परस्पर अनन्य (mutually exclusive) होती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D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वृद्धि और श्वसन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वृद्धि और प्रजनन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E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चयापचय और मृत्यु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गति और चेतना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In majority of higher animals and plants, growth and reproduction are mutually exclusive events.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63734" y="1842516"/>
            <a:ext cx="1707337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🦠 एककोशिकीय वृद्धि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एककोशिकीय जीवों (अमीबा, जीवाणु) में 'वृद्धि' मुख्यतः किसकी पर्यायवाची मानी जाती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चयापचय की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प्रजनन की (कोशिका-संख्या में वृद्धि)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1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उत्परिवर्तन की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वाष्पोत्सर्जन की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In unicellular organisms reproduction is synonymous with growth, i.e., increase in number of cells.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0051" y="1842516"/>
            <a:ext cx="1301019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🏔️ बाह्य जमाव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निर्जीव वस्तुओं (पर्वत, बालू का टीला) में देखी जाने वाली 'वृद्धि' का कारण है—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आंतरिक कोशिका-विभाजन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सतह पर पदार्थ का जमा होना (accumulation)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बीजाणु निर्माण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चयापचय की तीव्रता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निर्जीवों में वृद्धि सतह पर जमाव से, जबकि जीवों में वृद्धि भीतर से (from inside) होती है।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10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84015" y="1842516"/>
            <a:ext cx="1587055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🐴 प्रजनन का अपवाद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प्रजनन को 'सर्वव्यापी निर्णायक लक्षण' क्यों नहीं माना जाता?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क्योंकि खच्चर (mule), बाँझ मधुमक्खी-श्रमिकी एवं बाँझ दंपति — अनेक जीव प्रजनन नहीं करते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क्योंकि प्रजनन जीवों के लिए आवश्यक ही नहीं है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क्योंकि केवल पादप प्रजनन करते हैं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क्योंकि सभी जीव सदा प्रजनन करते हैं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many organisms do not reproduce (mules, sterile worker bees, infertile human couples, etc.).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11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6695" y="1842516"/>
            <a:ext cx="1484376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🧪 in vitro चयापचय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नली (test-tube) में कराई गई पृथक चयापचयी अभिक्रियाओं के बारे में NCERT क्या कहता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DD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वे पूर्णतः जीवित वस्तुएँ हैं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वे न जीवित न अजीवित — परंतु 'जीवित अभिक्रियाएँ' अवश्य हैं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वे बिलकुल अजीवित अभिक्रियाएँ हैं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वे कोशिकांग हैं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Isolated metabolic reactions in vitro are not living things but surely living reactions.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12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8479" y="1842516"/>
            <a:ext cx="994448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⚗️ चयापचय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चयापचय (metabolism) की सही परिभाषा कौन-सी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शरीर में होने वाली सभी रासायनिक अभिक्रियाओं का कुल योग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F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केवल श्वसन की अभिक्रियाएँ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केवल पाचन-क्रिया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केवल उत्सर्जन-क्रिया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C918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46970" y="198883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FFDD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वृद्धि (growth)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72702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FFF3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प्रजनन (reproduction)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6970" y="346521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D7F0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चयापचय (metabolism)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6970" y="420340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E3D7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चेतना (consciousness)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0983" y="495922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कोई एक लक्षण अकेला 'जीव' को परिभाषित नहीं करता —</a:t>
            </a:r>
          </a:p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सभी लक्षण सामूहिक रूप से जीवन दर्शाते हैं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The sum total of all the chemical reactions occurring in our body is metabolism.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12 /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13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65419" y="1842516"/>
            <a:ext cx="1467507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🔬 कोशिकीय संगठन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NCERT के अनुसार 'जीव-रूपों' का निर्णायक लक्षण संगठन के स्तर पर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रक्त-संचालन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शरीर का कोशिकीय संगठन (cellular organisation)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हार्मोन का स्राव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केवल प्रकाश-श्लेषण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5A18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0983" y="2614244"/>
            <a:ext cx="2962655" cy="2148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कोशिकीय संगठन = जीवन का निर्णायक लक्षण</a:t>
            </a:r>
          </a:p>
        </p:txBody>
      </p:sp>
      <p:sp>
        <p:nvSpPr>
          <p:cNvPr id="35" name="Oval 34"/>
          <p:cNvSpPr/>
          <p:nvPr/>
        </p:nvSpPr>
        <p:spPr>
          <a:xfrm>
            <a:off x="9131361" y="2984614"/>
            <a:ext cx="881832" cy="881832"/>
          </a:xfrm>
          <a:prstGeom prst="ellipse">
            <a:avLst/>
          </a:prstGeom>
          <a:solidFill>
            <a:srgbClr val="FFE6B8"/>
          </a:solidFill>
          <a:ln w="1778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2243" y="3901719"/>
            <a:ext cx="1380067" cy="35890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प्रागुकेंद्रिक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DNA खुला</a:t>
            </a:r>
          </a:p>
        </p:txBody>
      </p:sp>
      <p:sp>
        <p:nvSpPr>
          <p:cNvPr id="37" name="Oval 36"/>
          <p:cNvSpPr/>
          <p:nvPr/>
        </p:nvSpPr>
        <p:spPr>
          <a:xfrm>
            <a:off x="10414427" y="2984614"/>
            <a:ext cx="1075835" cy="1075835"/>
          </a:xfrm>
          <a:prstGeom prst="ellipse">
            <a:avLst/>
          </a:prstGeom>
          <a:solidFill>
            <a:srgbClr val="D4F5EA"/>
          </a:solidFill>
          <a:ln w="1778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58694" y="3328881"/>
            <a:ext cx="387300" cy="387300"/>
          </a:xfrm>
          <a:prstGeom prst="ellipse">
            <a:avLst/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2311" y="4095722"/>
            <a:ext cx="1380067" cy="35890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सुकेंद्रिक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प्रकेंद्रक युक्त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0983" y="4554275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7B2CBF"/>
                </a:solidFill>
                <a:latin typeface="Nirmala UI"/>
                <a:ea typeface="Nirmala UI"/>
                <a:cs typeface="Nirmala UI"/>
              </a:rPr>
              <a:t>विषाणु — अकोशिकीय (non-cellular); इनका स्वर विशेष बहस का विषय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cellular organisation of the body is the defining feature of life forms.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13 / 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14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31179" y="1842516"/>
            <a:ext cx="1339891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☀️ प्रकाश-अवधि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प्रकाश-अवधि (photoperiod) का प्रभाव प्रजनन पर किसमें देखा जाता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केवल पादपों 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D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केवल जंतुओं में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पादप एवं जंतु दोनों (seasonal breeders) में</a:t>
            </a:r>
          </a:p>
        </p:txBody>
      </p:sp>
      <p:sp>
        <p:nvSpPr>
          <p:cNvPr id="28" name="Oval 27"/>
          <p:cNvSpPr/>
          <p:nvPr/>
        </p:nvSpPr>
        <p:spPr>
          <a:xfrm>
            <a:off x="11405311" y="456237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विषाणुओं में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Photoperiod affects reproduction in seasonal breeders, both plants and animals.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15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59050" y="1842516"/>
            <a:ext cx="1312021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😴 सुप्तावस्था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बीजाणुओं एवं बीजों की सुप्तावस्था (dormancy) के बारे में सही कथन चुनिए—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इससे जीव मर जाते हैं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यह अजीवित होने का प्रमाण है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प्रतिकूल परिस्थिति में जीवित रहने की रणनीति; क्रियाएँ अत्यंत मंद हो जाती हैं</a:t>
            </a:r>
          </a:p>
        </p:txBody>
      </p:sp>
      <p:sp>
        <p:nvSpPr>
          <p:cNvPr id="28" name="Oval 27"/>
          <p:cNvSpPr/>
          <p:nvPr/>
        </p:nvSpPr>
        <p:spPr>
          <a:xfrm>
            <a:off x="11405311" y="456237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इस दौरान चयापचय और तेज हो जाता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सुप्तावस्था में चयापचय अत्यंत मंद गति से चलता रहता है; अनुकूल अवसर पर वे पुनः सक्रिय हो जाते हैं।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16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39022" y="1842516"/>
            <a:ext cx="1532048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⏳ मृत्यु एवं लक्षण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किसी मृत जीव में तुरंत बंद हो जाने वाली क्रिया कौन-सी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केवल जल का वाष्पीकरण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वृद्धि एवं चयापचय (जीवनोपयोगी क्रियाएँ)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E1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केवल ताप-परिवर्तन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केवल भौतिक ऑक्सीकरण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A dead organism does not grow — मृत्यु पर चयापचय भी रुक जाता है।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17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6663" y="1842516"/>
            <a:ext cx="2186263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📈 वृद्धि की दोहरी विशेषता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NCERT के अनुसार 'वृद्धि' की दोहरी (twin) विशेषताएँ कौन-सी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द्रव्यमान (mass) में वृद्धि एवं व्यक्तियों की संख्या में वृद्धि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रंग में परिवर्तन एवं गति में वृद्धि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कोशिका-विभाजन का सदैव रुकना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प्रकाश-श्लेषण एवं श्वसन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85D0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0983" y="2468742"/>
            <a:ext cx="2962655" cy="23088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वृद्धि = आंतरिक कोशिका-विभाजन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821475"/>
            <a:ext cx="1335975" cy="14109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F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26335" y="3932583"/>
            <a:ext cx="196648" cy="176366"/>
          </a:xfrm>
          <a:prstGeom prst="rect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67075" y="3826763"/>
            <a:ext cx="196648" cy="282186"/>
          </a:xfrm>
          <a:prstGeom prst="rect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7815" y="3720944"/>
            <a:ext cx="196648" cy="388006"/>
          </a:xfrm>
          <a:prstGeom prst="rect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48555" y="3615124"/>
            <a:ext cx="196648" cy="493826"/>
          </a:xfrm>
          <a:prstGeom prst="rect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89296" y="3509304"/>
            <a:ext cx="196648" cy="599645"/>
          </a:xfrm>
          <a:prstGeom prst="rect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46970" y="4267680"/>
            <a:ext cx="1335975" cy="21168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पादप : अपरिमित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41676" y="2821475"/>
            <a:ext cx="1335975" cy="14109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E8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21041" y="3914947"/>
            <a:ext cx="196648" cy="194003"/>
          </a:xfrm>
          <a:prstGeom prst="rect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1781" y="3738580"/>
            <a:ext cx="196648" cy="370369"/>
          </a:xfrm>
          <a:prstGeom prst="rect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02521" y="3615124"/>
            <a:ext cx="196648" cy="493826"/>
          </a:xfrm>
          <a:prstGeom prst="rect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43261" y="3606305"/>
            <a:ext cx="196648" cy="502644"/>
          </a:xfrm>
          <a:prstGeom prst="rect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84001" y="3606305"/>
            <a:ext cx="196648" cy="502644"/>
          </a:xfrm>
          <a:prstGeom prst="rect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41676" y="4267680"/>
            <a:ext cx="1335975" cy="21168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जंतु : सीमित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0983" y="4585139"/>
            <a:ext cx="2962655" cy="6373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निर्जीव (पर्वत) — सतह पर जमाव से बढ़ता है;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जीवों में वृद्धि भीतर से — अतः वृद्धि एकल निर्णायक लक्षण नहीं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Increase in mass and increase in number of individuals are twin characteristics of growth.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17 / 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18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63959" y="1842516"/>
            <a:ext cx="1507112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🏥 कोमा एवं चेतना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अस्पताल में कोमा (coma) की अवस्था में रोगी — मस्तिष्क-मृत, परंतु यंत्रों से हृदय-श्वसन जारी — NCERT इसे किस बहस को उठाता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D7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वर्गीकरण की उपयोगिता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नामकरण के नियम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8820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556252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चेतना के आधार पर 'जीवित/अजीवित' निर्धारित करने की जटिलता</a:t>
            </a:r>
          </a:p>
        </p:txBody>
      </p:sp>
      <p:sp>
        <p:nvSpPr>
          <p:cNvPr id="28" name="Oval 27"/>
          <p:cNvSpPr/>
          <p:nvPr/>
        </p:nvSpPr>
        <p:spPr>
          <a:xfrm>
            <a:off x="11405311" y="4689348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हर्बेरियम के महत्व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ऐसे रोगी में स्व-चेतना नहीं रहती; अतः उसे जीवित माना जाए या अजीवित — यही प्रश्न उठता है।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19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3112" y="1842516"/>
            <a:ext cx="1347958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📡 संवेदनशीलता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पर्यावरण-संकेतों को ग्रहण करने के संदर्भ में NCERT के अनुसार सही कथन चुनिए—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D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केवल उच्च जंतु ही संकेत ग्रहण कर सकते हैं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prokaryotes से लेकर सर्वाधिक जटिल eukaryotes तक सभी जीव संकेतों को ग्रहण कर अनुक्रिया करते हैं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पादपों में यह क्षमता नहीं होती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यह क्षमता केवल स्तनधारियों में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All organisms, from the prokaryotes to the most complex eukaryotes can sense and respond to environmental cues.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20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19445" y="1842516"/>
            <a:ext cx="1351626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🧬 उद्भूत लक्षण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ऊतकों के लक्षण उनके घटक कोशिकाओं में नहीं पाए जाते — NCERT के अनुसार यह किसका उदाहरण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उत्परिवर्तन का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अंतःक्रियाओं से उभरने वाले 'उद्भूत लक्षणों' (emergent properties) का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विषमयुग्मिता का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अप्रकटन का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Properties of tissues arise as a result of interactions among the constituent cells — emergent properties.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21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7512" y="1842516"/>
            <a:ext cx="1343558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🌍 जैव विविधता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NCERT के अनुसार ज्ञात एवं वर्णित (known &amp; described) जातियों की संख्या कितनी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0.17 लाख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1.7 – 1.8 लाख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1.7 – 1.8 मिलियन (लगभग 17 लाख)</a:t>
            </a:r>
          </a:p>
        </p:txBody>
      </p:sp>
      <p:sp>
        <p:nvSpPr>
          <p:cNvPr id="28" name="Oval 27"/>
          <p:cNvSpPr/>
          <p:nvPr/>
        </p:nvSpPr>
        <p:spPr>
          <a:xfrm>
            <a:off x="11405311" y="456237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170 मिलियन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The number of species that are known and described range between 1.7 – 1.8 million.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22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7512" y="1842516"/>
            <a:ext cx="1343558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🌍 जैव विविधता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'जैव विविधता (biodiversity)' से तात्पर्य है—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पृथ्वी पर विद्यमान जीवों की संख्या एवं प्रकार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D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केवल वन्यजीव अभयारण्य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केवल विलुप्त हो चुकी जातियाँ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कोशिकांगों की विविधता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biodiversity refers to the number and types of organisms present on earth.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23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5404" y="1842516"/>
            <a:ext cx="1057522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🏷️ नामकरण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संपूर्ण विश्व में किसी जीव को एक ही नाम से जानाने हेतु नाम को मानकीकृत करने की प्रक्रिया कहलाती है—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D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कीलकन (mounting)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E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वर्गीकरण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नामकरण (nomenclature)</a:t>
            </a:r>
          </a:p>
        </p:txBody>
      </p:sp>
      <p:sp>
        <p:nvSpPr>
          <p:cNvPr id="28" name="Oval 27"/>
          <p:cNvSpPr/>
          <p:nvPr/>
        </p:nvSpPr>
        <p:spPr>
          <a:xfrm>
            <a:off x="7967167" y="4689348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चित्रण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B72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FE9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Mangifera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गोत्र • Capital अक्षर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911357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DEFFD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indica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जाति-विशेषण • small अक्षर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816246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5D6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Linn.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लेखक का संक्षिप्त नाम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4774044"/>
            <a:ext cx="2962655" cy="5109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मुद्रित → Italics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हस्तलिखित → दोनों शब्द अलग-अलग underline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एक ही टैक्सॉन के लिए एक ही नाम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There is a need to standardise the naming of living organisms… this process is called nomenclature.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23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24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66834" y="1842516"/>
            <a:ext cx="904236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🔎 पहचान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'नाम किस जीव से संबद्ध है' — यह निर्धारित करने की प्रक्रिया कहलाती है—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पहचान (identification)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नामकरण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E1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वर्गीकरण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कीलकन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…we know to what organism the name is attached to. This is identification.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25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8760" y="1842516"/>
            <a:ext cx="874166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📘 ICBN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पादपों के वैज्ञानिक नामकरण के सर्वमान्य सिद्धांत एवं आधार कहां दिए गए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ICZN 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ICBN (International Code for Botanical Nomenclature) में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IUCN में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ISO में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85D0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CDEB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Mangifera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गोत्र • Capital अक्षर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911357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D6F5D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indica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जाति-विशेषण • small अक्षर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816246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BD5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Linn.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लेखक का संक्षिप्त नाम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4774044"/>
            <a:ext cx="2962655" cy="5109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मुद्रित → Italics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हस्तलिखित → दोनों शब्द अलग-अलग underline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एक ही टैक्सॉन के लिए एक ही नाम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For plants, scientific names are based on agreed principles and criteria provided in ICBN.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25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26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6904" y="1842516"/>
            <a:ext cx="874166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📘 ICZN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जंतुओं के नामकरण का अंतर्राष्ट्रीय नियम-संग्रह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7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ICBN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ICZN (International Code of Zoological Nomenclature)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ICNCP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ICTV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Animal taxonomists have evolved International Code of Zoological Nomenclature.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27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071" y="1842516"/>
            <a:ext cx="1584855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🏷️ द्विनाम पद्धति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द्विनाम पद्धति (Binomial nomenclature) किसने दी?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D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चार्ल्स डार्विन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कैरोलस लिनियस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एन्थोनी वैन ल्यूवेनहॉक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आर.एच. विटकर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1B7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FF0B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Mangifera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गोत्र • Capital अक्षर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911357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indica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जाति-विशेषण • small अक्षर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816246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9D5E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Linn.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लेखक का संक्षिप्त नाम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4774044"/>
            <a:ext cx="2962655" cy="5109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मुद्रित → Italics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हस्तलिखित → दोनों शब्द अलग-अलग underline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एक ही टैक्सॉन के लिए एक ही नाम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This naming system given by Carolus Linnaeus is being practised by biologists all over the world.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27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28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9593" y="1842516"/>
            <a:ext cx="1143333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🥭 आम का नाम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वैज्ञानिक नाम Mangifera indica में 'Mangifera' तथा 'indica' क्रमशः हैं—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कुल, वर्ग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गोत्र, जाति-विशेषण (specific epithet)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जाति-विशेषण, गोत्र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वर्ग, क्रम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C918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FF3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Mangifera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गोत्र • Capital अक्षर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911357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D7F0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indica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जाति-विशेषण • small अक्षर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816246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E3D7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Linn.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लेखक का संक्षिप्त नाम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4774044"/>
            <a:ext cx="2962655" cy="5109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मुद्रित → Italics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हस्तलिखित → दोनों शब्द अलग-अलग underline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एक ही टैक्सॉन के लिए एक ही नाम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Mangifera represents the genus while indica is a particular species, i.e., a specific epithet.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28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29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3910" y="1842516"/>
            <a:ext cx="1279017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🏷️ लिपि-नियम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वैज्ञानिक नाम लिखने का सही नियम चुनिए।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गोत्र small letter से, जाति-विशेषण Capital से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दोनों शब्द Capital letter से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गोत्र Capital letter से, जाति-विशेषण small letter से</a:t>
            </a:r>
          </a:p>
        </p:txBody>
      </p:sp>
      <p:sp>
        <p:nvSpPr>
          <p:cNvPr id="28" name="Oval 27"/>
          <p:cNvSpPr/>
          <p:nvPr/>
        </p:nvSpPr>
        <p:spPr>
          <a:xfrm>
            <a:off x="7967167" y="456237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किसी नियम की आवश्यकता नहीं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5A18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FE6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Mangifera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गोत्र • Capital अक्षर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911357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D4F5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indica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जाति-विशेषण • small अक्षर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816246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FD9E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Linn.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लेखक का संक्षिप्त नाम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4774044"/>
            <a:ext cx="2962655" cy="5109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मुद्रित → Italics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हस्तलिखित → दोनों शब्द अलग-अलग underline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एक ही टैक्सॉन के लिए एक ही नाम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The first word denoting the genus starts with a capital letter while the specific epithet with a small letter.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29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30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3910" y="1842516"/>
            <a:ext cx="1279017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🏷️ लिपि-नियम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मुद्रित (printed) अवस्था में वैज्ञानिक नाम कैसे लिखे जाते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BOLD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ITALICS (तिरछे)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सम्पूर्ण CAPS में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सादा, बिना किसी विशेषता के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D3EF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Mangifera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गोत्र • Capital अक्षर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911357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E7D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indica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जाति-विशेषण • small अक्षर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816246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FDCC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Linn.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लेखक का संक्षिप्त नाम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4774044"/>
            <a:ext cx="2962655" cy="5109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मुद्रित → Italics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हस्तलिखित → दोनों शब्द अलग-अलग underline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एक ही टैक्सॉन के लिए एक ही नाम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Biological names are generally in Latin and written in italics.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30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31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92077" y="1842516"/>
            <a:ext cx="1540849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🏷️ हस्तलिपि नियम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हस्तलिखित वैज्ञानिक नाम के साथ क्या किया जाना चाहिए?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पूरा नाम एक साथ underline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गोत्र एवं जाति-विशेषण अलग-अलग underline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E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कोई चिह्न नहीं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केवल गोत्र का underline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B72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FE9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Mangifera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गोत्र • Capital अक्षर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911357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DEFFD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indica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जाति-विशेषण • small अक्षर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816246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5D6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Linn.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लेखक का संक्षिप्त नाम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4774044"/>
            <a:ext cx="2962655" cy="5109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मुद्रित → Italics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हस्तलिखित → दोनों शब्द अलग-अलग underline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एक ही टैक्सॉन के लिए एक ही नाम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Both the words in a biological name, when handwritten, are separately underlined.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31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32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96928" y="1842516"/>
            <a:ext cx="1135999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✍️ लेखक-नाम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'Mangifera indica Linn.' में अंत में आया 'Linn.' क्या दर्शाता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भाषा (लैटिन)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लेखक का संक्षिप्त नाम — अर्थात् यह जाति सर्वप्रथम लिनियस द्वारा वर्णित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1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संकलन का स्थान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कुल का नाम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BA12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Mangifera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गोत्र • Capital अक्षर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911357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E1F8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indica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जाति-विशेषण • small अक्षर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816246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3DE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Linn.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लेखक का संक्षिप्त नाम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4774044"/>
            <a:ext cx="2962655" cy="5109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मुद्रित → Italics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हस्तलिखित → दोनों शब्द अलग-अलग underline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एक ही टैक्सॉन के लिए एक ही नाम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Name of the author appears after the specific epithet in abbreviated form, indicating who first described the species.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32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33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34113" y="1842516"/>
            <a:ext cx="1336957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🏛️ लैटिन भाषा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वैज्ञानिक नाम मुख्यतः किस भाषा के होते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संस्कृत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अंग्रेजी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लैटिन (अथवा लैटिनीकृत/लैटिन-जन्य)</a:t>
            </a:r>
          </a:p>
        </p:txBody>
      </p:sp>
      <p:sp>
        <p:nvSpPr>
          <p:cNvPr id="28" name="Oval 27"/>
          <p:cNvSpPr/>
          <p:nvPr/>
        </p:nvSpPr>
        <p:spPr>
          <a:xfrm>
            <a:off x="11405311" y="456237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जर्मन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Biological names are generally in Latin; they are Latinised or derived from Latin irrespective of their origin.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34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4185" y="1842516"/>
            <a:ext cx="1826885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🧭 वर्गीकरण का इतिहास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सर्वाधिक प्रारंभिक (earliest) वर्गीकरण किस आधार पर किए गए थे?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7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जातिवृत्ति (evolution) के आधार पर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जीवों के 'उपयोग' के आधार पर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rRNA अनुक्रम के आधार पर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केवल पुष्प-संरचना के आधार पर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the earliest classifications were based on the ‘uses’ of various organisms.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35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98880" y="1842516"/>
            <a:ext cx="1072191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📖 शब्दार्थ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'Systematics' शब्द किस लैटिन शब्द से लिया गया है और उसका अर्थ क्या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systema — जीवों का व्यवस्थित विन्यास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F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sistema — कोशिका-समूह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systole — हृदय-संकुचन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system — परिवहन तंत्र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The word systematics is derived from the Latin word ‘systema’ which means systematic arrangement of organisms.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36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89599" y="1842516"/>
            <a:ext cx="1181471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🗂️ वर्गीकरण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'वर्गीकरण (classification)' की NCERT-परिभाषा चुनिए—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सुलभ/दृश्य लक्षणों के आधार पर वस्तुओं को सुविधाजनक श्रेणियों में समूहित करना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F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केवल पौधों को उगाना एवं सींचना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केवल वैज्ञानिक नाम देना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कीट-नाशकों का प्रयोग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Classification is the process by which anything is grouped into convenient categories based on some easily observable characters.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37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98880" y="1842516"/>
            <a:ext cx="1072191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🔤 शब्दार्थ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'taxonomy' शब्द ग्रीक भाषा के किन दो शब्दों से मिलकर बना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taxis (विन्यास) + metron (मापन)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tax (कर) + metron (माप)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taxis (गति) + meter (द्रव्यमान)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taxon + pathy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taxis = arrangement, metron = measurement → शब्द 'taxonomy' A.P. de Candolle (1813) ने प्रयुक्त किया।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38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59529" y="1842516"/>
            <a:ext cx="1211541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👨‍🏫 लिनियस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आधुनिक वर्गीकरण-विज्ञान (taxonomy) का जनक किसे माना जाता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अरस्तू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कैरोलस लिनियस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आर.एच. विटकर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थियोफ्रेस्टस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Carolus Linnaeus — father of taxonomy; his publication was titled 'Systema Naturae' (1735).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39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39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61752" y="1842516"/>
            <a:ext cx="1471174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📝 वर्णन का महत्व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वैज्ञानिक नाम के लिए 'वर्णन (description)' अनिवार्य है, क्योंकि—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5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विश्व के किसी भी भाग में कोई भी व्यक्ति वर्णन से उसी नाम पर पहुँच सके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E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5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केवल फोटो पर्याप्त है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E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5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स्थानीय नाम पर्याप्त है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5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कुंजी पर्याप्त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B72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FE9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Mangifera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गोत्र • Capital अक्षर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911357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DEFFD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indica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जाति-विशेषण • small अक्षर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816246"/>
            <a:ext cx="2795408" cy="582009"/>
          </a:xfrm>
          <a:prstGeom prst="roundRect">
            <a:avLst>
              <a:gd name="adj" fmla="val 30000"/>
            </a:avLst>
          </a:prstGeom>
          <a:solidFill>
            <a:srgbClr val="F5D6F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45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Linn.   </a:t>
            </a:r>
            <a:r>
              <a:rPr sz="89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लेखक का संक्षिप्त नाम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4774044"/>
            <a:ext cx="2962655" cy="5109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मुद्रित → Italics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हस्तलिखित → दोनों शब्द अलग-अलग underline</a:t>
            </a:r>
          </a:p>
          <a:p>
            <a:pPr algn="ctr">
              <a:lnSpc>
                <a:spcPct val="100000"/>
              </a:lnSpc>
            </a:pPr>
            <a:r>
              <a:rPr sz="95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एक ही टैक्सॉन के लिए एक ही नाम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Description of any organism should enable the people in any part of the world to arrive at the same name.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39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40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2036" y="1842516"/>
            <a:ext cx="1870890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🪜 सर्वाधिक निम्न कोटि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वर्गीक्रम (taxonomic hierarchy) में सबसे निचली/मौलिक इकाई कौन-सी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गोत्र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जाति (species)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1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कुल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वर्ग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BA12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49791" y="1988832"/>
            <a:ext cx="2425038" cy="405642"/>
          </a:xfrm>
          <a:prstGeom prst="roundRect">
            <a:avLst>
              <a:gd name="adj" fmla="val 30000"/>
            </a:avLst>
          </a:prstGeom>
          <a:solidFill>
            <a:srgbClr val="FFE0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1008" y="2438370"/>
            <a:ext cx="2288354" cy="405642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Division / Phylum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2225" y="2887907"/>
            <a:ext cx="2151670" cy="405642"/>
          </a:xfrm>
          <a:prstGeom prst="roundRect">
            <a:avLst>
              <a:gd name="adj" fmla="val 30000"/>
            </a:avLst>
          </a:prstGeom>
          <a:solidFill>
            <a:srgbClr val="E1F8D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वर्ग (Class)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3442" y="3337445"/>
            <a:ext cx="2014986" cy="405642"/>
          </a:xfrm>
          <a:prstGeom prst="roundRect">
            <a:avLst>
              <a:gd name="adj" fmla="val 30000"/>
            </a:avLst>
          </a:prstGeom>
          <a:solidFill>
            <a:srgbClr val="F3DEFB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क्रम (Order)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4660" y="3786983"/>
            <a:ext cx="1878302" cy="405642"/>
          </a:xfrm>
          <a:prstGeom prst="roundRect">
            <a:avLst>
              <a:gd name="adj" fmla="val 30000"/>
            </a:avLst>
          </a:prstGeom>
          <a:solidFill>
            <a:srgbClr val="FFE0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कुल (Family)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05877" y="4236520"/>
            <a:ext cx="1741618" cy="405642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गोत्र (Genus)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7094" y="4686058"/>
            <a:ext cx="1604934" cy="405642"/>
          </a:xfrm>
          <a:prstGeom prst="roundRect">
            <a:avLst>
              <a:gd name="adj" fmla="val 30000"/>
            </a:avLst>
          </a:prstGeom>
          <a:solidFill>
            <a:srgbClr val="E1F8D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जाति (Species)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517086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↑ ऊपर जाते ही — साझा लक्षण घटते हैं; लक्षण अधिक सामान्य एवं मौलिक बनते हैं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All organisms, including those in plant and animal kingdoms, have species as the lowest category.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40 / 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41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8077" y="1842516"/>
            <a:ext cx="1622993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🧬 जाति की अवधारणा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टैक्सोनॉमिक अध्ययनों में 'जाति' किन्हें माना जाता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मूलभूत समानताएँ रखने वाले व्यष्टि-जीवों का समूह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केवल समान आकार वाले जीव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केवल एक ही क्षेत्र के जीव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केवल आर्थिक महत्व वाले जीव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Taxonomic studies consider a group of individual organisms with fundamental similarities as a species.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42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19468" y="1842516"/>
            <a:ext cx="1613458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🪜 कोटि-श्रेणीक्रम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टैक्सोनॉमिक 'कोटियाँ' और 'श्रेणीक्रम' में सही संबंध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D7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कोटियाँ श्रेणीक्रम से असंबद्ध हैं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सभी कोटियाँ मिलकर टैक्सोनॉमिक श्रेणीक्रम बनाती हैं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श्रेणीक्रम केवल जंतुओं का बनता है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कोटियाँ केवल पादपों की होती हैं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353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49791" y="1988832"/>
            <a:ext cx="2425038" cy="405642"/>
          </a:xfrm>
          <a:prstGeom prst="roundRect">
            <a:avLst>
              <a:gd name="adj" fmla="val 30000"/>
            </a:avLst>
          </a:prstGeom>
          <a:solidFill>
            <a:srgbClr val="D7EC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1008" y="2438370"/>
            <a:ext cx="2288354" cy="405642"/>
          </a:xfrm>
          <a:prstGeom prst="roundRect">
            <a:avLst>
              <a:gd name="adj" fmla="val 30000"/>
            </a:avLst>
          </a:prstGeom>
          <a:solidFill>
            <a:srgbClr val="FFE9A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Division / Phylum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2225" y="2887907"/>
            <a:ext cx="2151670" cy="405642"/>
          </a:xfrm>
          <a:prstGeom prst="roundRect">
            <a:avLst>
              <a:gd name="adj" fmla="val 30000"/>
            </a:avLst>
          </a:prstGeom>
          <a:solidFill>
            <a:srgbClr val="D8F8E5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वर्ग (Class)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3442" y="3337445"/>
            <a:ext cx="2014986" cy="405642"/>
          </a:xfrm>
          <a:prstGeom prst="roundRect">
            <a:avLst>
              <a:gd name="adj" fmla="val 30000"/>
            </a:avLst>
          </a:prstGeom>
          <a:solidFill>
            <a:srgbClr val="FBD3E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क्रम (Order)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4660" y="3786983"/>
            <a:ext cx="1878302" cy="405642"/>
          </a:xfrm>
          <a:prstGeom prst="roundRect">
            <a:avLst>
              <a:gd name="adj" fmla="val 30000"/>
            </a:avLst>
          </a:prstGeom>
          <a:solidFill>
            <a:srgbClr val="D7EC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कुल (Family)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05877" y="4236520"/>
            <a:ext cx="1741618" cy="405642"/>
          </a:xfrm>
          <a:prstGeom prst="roundRect">
            <a:avLst>
              <a:gd name="adj" fmla="val 30000"/>
            </a:avLst>
          </a:prstGeom>
          <a:solidFill>
            <a:srgbClr val="FFE9A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गोत्र (Genus)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7094" y="4686058"/>
            <a:ext cx="1604934" cy="405642"/>
          </a:xfrm>
          <a:prstGeom prst="roundRect">
            <a:avLst>
              <a:gd name="adj" fmla="val 30000"/>
            </a:avLst>
          </a:prstGeom>
          <a:solidFill>
            <a:srgbClr val="D8F8E5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जाति (Species)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517086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↑ ऊपर जाते ही — साझा लक्षण घटते हैं; लक्षण अधिक सामान्य एवं मौलिक बनते हैं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Since the category is part of the overall taxonomic arrangement, it is called taxonomic category; all together form the hierarchy.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42 / 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43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22828" y="1842516"/>
            <a:ext cx="948242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🧱 टैक्सन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वर्गीकरण की प्रत्येक श्रेणी/कोटि को सामान्यतः क्या कहा जाता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टैक्सन (taxon)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F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कोशिका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जैविक जाति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कीलक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Each category, referred to as a unit of classification, represents a rank and is commonly termed taxon (pl. taxa).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44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0792" y="1842516"/>
            <a:ext cx="1152134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🪜 वर्गीक्रम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निम्न में से सही आरोही वर्गीक्रम (ascending order) चुनिए—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जाति → गोत्र → कुल → क्रम → वर्ग → Phylum/Division → जगत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F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जगत → कुल → गोत्र → जाति → वर्ग → क्रम → Division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जाति → कुल → गोत्र → वर्ग → क्रम → जगत → Division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गोत्र → जाति → वर्ग → कुल → क्रम → Division → जगत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C918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49791" y="1988832"/>
            <a:ext cx="2425038" cy="405642"/>
          </a:xfrm>
          <a:prstGeom prst="roundRect">
            <a:avLst>
              <a:gd name="adj" fmla="val 30000"/>
            </a:avLst>
          </a:prstGeom>
          <a:solidFill>
            <a:srgbClr val="FFDD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1008" y="2438370"/>
            <a:ext cx="2288354" cy="405642"/>
          </a:xfrm>
          <a:prstGeom prst="roundRect">
            <a:avLst>
              <a:gd name="adj" fmla="val 30000"/>
            </a:avLst>
          </a:prstGeom>
          <a:solidFill>
            <a:srgbClr val="FFF3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Division / Phylum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2225" y="2887907"/>
            <a:ext cx="2151670" cy="405642"/>
          </a:xfrm>
          <a:prstGeom prst="roundRect">
            <a:avLst>
              <a:gd name="adj" fmla="val 30000"/>
            </a:avLst>
          </a:prstGeom>
          <a:solidFill>
            <a:srgbClr val="D7F0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वर्ग (Class)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3442" y="3337445"/>
            <a:ext cx="2014986" cy="405642"/>
          </a:xfrm>
          <a:prstGeom prst="roundRect">
            <a:avLst>
              <a:gd name="adj" fmla="val 30000"/>
            </a:avLst>
          </a:prstGeom>
          <a:solidFill>
            <a:srgbClr val="E3D7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क्रम (Order)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4660" y="3786983"/>
            <a:ext cx="1878302" cy="405642"/>
          </a:xfrm>
          <a:prstGeom prst="roundRect">
            <a:avLst>
              <a:gd name="adj" fmla="val 30000"/>
            </a:avLst>
          </a:prstGeom>
          <a:solidFill>
            <a:srgbClr val="FFDD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कुल (Family)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05877" y="4236520"/>
            <a:ext cx="1741618" cy="405642"/>
          </a:xfrm>
          <a:prstGeom prst="roundRect">
            <a:avLst>
              <a:gd name="adj" fmla="val 30000"/>
            </a:avLst>
          </a:prstGeom>
          <a:solidFill>
            <a:srgbClr val="FFF3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गोत्र (Genus)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7094" y="4686058"/>
            <a:ext cx="1604934" cy="405642"/>
          </a:xfrm>
          <a:prstGeom prst="roundRect">
            <a:avLst>
              <a:gd name="adj" fmla="val 30000"/>
            </a:avLst>
          </a:prstGeom>
          <a:solidFill>
            <a:srgbClr val="D7F0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जाति (Species)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517086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↑ ऊपर जाते ही — साझा लक्षण घटते हैं; लक्षण अधिक सामान्य एवं मौलिक बनते हैं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 Figure 1.1: Species → Genus → Family → Order → Class → Phylum/Division → Kingdom.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44 / 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45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1879" y="1842516"/>
            <a:ext cx="1521047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🪜 Division/Phylum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पादप-वर्गीकरण में 'Division' कोटि प्रयुक्त होती है; जंतु-वर्गीकरण में उसकी समकक्ष कोटि कौन-सी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Class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Phylum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Order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Family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5A18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49791" y="1988832"/>
            <a:ext cx="2425038" cy="405642"/>
          </a:xfrm>
          <a:prstGeom prst="roundRect">
            <a:avLst>
              <a:gd name="adj" fmla="val 30000"/>
            </a:avLst>
          </a:prstGeom>
          <a:solidFill>
            <a:srgbClr val="E9D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1008" y="2438370"/>
            <a:ext cx="2288354" cy="405642"/>
          </a:xfrm>
          <a:prstGeom prst="roundRect">
            <a:avLst>
              <a:gd name="adj" fmla="val 30000"/>
            </a:avLst>
          </a:prstGeom>
          <a:solidFill>
            <a:srgbClr val="FFE6B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Division / Phylum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2225" y="2887907"/>
            <a:ext cx="2151670" cy="405642"/>
          </a:xfrm>
          <a:prstGeom prst="roundRect">
            <a:avLst>
              <a:gd name="adj" fmla="val 30000"/>
            </a:avLst>
          </a:prstGeom>
          <a:solidFill>
            <a:srgbClr val="D4F5EA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वर्ग (Class)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3442" y="3337445"/>
            <a:ext cx="2014986" cy="405642"/>
          </a:xfrm>
          <a:prstGeom prst="roundRect">
            <a:avLst>
              <a:gd name="adj" fmla="val 30000"/>
            </a:avLst>
          </a:prstGeom>
          <a:solidFill>
            <a:srgbClr val="FFD9E2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क्रम (Order)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4660" y="3786983"/>
            <a:ext cx="1878302" cy="405642"/>
          </a:xfrm>
          <a:prstGeom prst="roundRect">
            <a:avLst>
              <a:gd name="adj" fmla="val 30000"/>
            </a:avLst>
          </a:prstGeom>
          <a:solidFill>
            <a:srgbClr val="E9D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कुल (Family)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05877" y="4236520"/>
            <a:ext cx="1741618" cy="405642"/>
          </a:xfrm>
          <a:prstGeom prst="roundRect">
            <a:avLst>
              <a:gd name="adj" fmla="val 30000"/>
            </a:avLst>
          </a:prstGeom>
          <a:solidFill>
            <a:srgbClr val="FFE6B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गोत्र (Genus)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7094" y="4686058"/>
            <a:ext cx="1604934" cy="405642"/>
          </a:xfrm>
          <a:prstGeom prst="roundRect">
            <a:avLst>
              <a:gd name="adj" fmla="val 30000"/>
            </a:avLst>
          </a:prstGeom>
          <a:solidFill>
            <a:srgbClr val="D4F5EA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जाति (Species)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517086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↑ ऊपर जाते ही — साझा लक्षण घटते हैं; लक्षण अधिक सामान्य एवं मौलिक बनते हैं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kingdom, phylum or division (for plants), class, order, family, genus and species.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45 / 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46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34107" y="1842516"/>
            <a:ext cx="1298819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🌳 कुल (Family)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'कुल (Family)' के संबंध में सही कथन चुनिए—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केवल एक जाति से बना होता 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संबंधित गोत्रों का समूह; पादप-जातियों के vegetative एवं reproductive दोनों लक्षणों पर आधारित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केवल जंतुओं में पाया जाता है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सदैव एक ही वर्ग में सीमित रहता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99880" y="2024105"/>
            <a:ext cx="2724861" cy="352732"/>
          </a:xfrm>
          <a:prstGeom prst="roundRect">
            <a:avLst>
              <a:gd name="adj" fmla="val 22000"/>
            </a:avLst>
          </a:prstGeom>
          <a:solidFill>
            <a:srgbClr val="9A6700"/>
          </a:solidFill>
          <a:ln w="12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कुल : Solanaceae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4653" y="3059569"/>
            <a:ext cx="45720" cy="176366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46970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FFF1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Solanum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आलू, बैंगन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51729" y="3059569"/>
            <a:ext cx="45720" cy="176366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14046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D3EF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Petunia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गुलदौरा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18805" y="3059569"/>
            <a:ext cx="45720" cy="176366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781122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E7D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Datura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धतूरा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3941402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अनेक संबंधित गोत्र → कुल</a:t>
            </a:r>
          </a:p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(vegetative + reproductive दोनों लक्षण)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0983" y="4452864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BC6C25"/>
                </a:solidFill>
                <a:latin typeface="Nirmala UI"/>
                <a:ea typeface="Nirmala UI"/>
                <a:cs typeface="Nirmala UI"/>
              </a:rPr>
              <a:t>क्रम : Convolvulaceae + Solanaceae → Polymoniales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BC6C25"/>
                </a:solidFill>
                <a:latin typeface="Nirmala UI"/>
                <a:ea typeface="Nirmala UI"/>
                <a:cs typeface="Nirmala UI"/>
              </a:rPr>
              <a:t>(आधार — पुष्प-लक्षण)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Families are characterised on the basis of both vegetative and reproductive features of plant species.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46 / 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47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6716" y="1842516"/>
            <a:ext cx="1226210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🌸 Solanaceae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NCERT के अनुसार कुल Solanaceae में रखे गए तीन गोत्र कौन-से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Solanum, Petunia, Datura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E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Homo, Panthera, Felis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E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Triticum, Mangifera, Rosa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Azadirachta, Ficus, Rosa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B72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99880" y="2024105"/>
            <a:ext cx="2724861" cy="352732"/>
          </a:xfrm>
          <a:prstGeom prst="roundRect">
            <a:avLst>
              <a:gd name="adj" fmla="val 22000"/>
            </a:avLst>
          </a:prstGeom>
          <a:solidFill>
            <a:srgbClr val="0B7285"/>
          </a:solidFill>
          <a:ln w="12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कुल : Solanaceae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4653" y="3059569"/>
            <a:ext cx="45720" cy="176366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46970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D2F4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Solanum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आलू, बैंगन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51729" y="3059569"/>
            <a:ext cx="45720" cy="176366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14046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FFE9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Petunia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गुलदौरा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18805" y="3059569"/>
            <a:ext cx="45720" cy="176366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781122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DEFFD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Datura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धतूरा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3941402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अनेक संबंधित गोत्र → कुल</a:t>
            </a:r>
          </a:p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(vegetative + reproductive दोनों लक्षण)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0983" y="4452864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087F8C"/>
                </a:solidFill>
                <a:latin typeface="Nirmala UI"/>
                <a:ea typeface="Nirmala UI"/>
                <a:cs typeface="Nirmala UI"/>
              </a:rPr>
              <a:t>क्रम : Convolvulaceae + Solanaceae → Polymoniales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087F8C"/>
                </a:solidFill>
                <a:latin typeface="Nirmala UI"/>
                <a:ea typeface="Nirmala UI"/>
                <a:cs typeface="Nirmala UI"/>
              </a:rPr>
              <a:t>(आधार — पुष्प-लक्षण)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Among plants, three different genera Solanum, Petunia and Datura are placed in the family Solanaceae.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47 / 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48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3728" y="1842516"/>
            <a:ext cx="1669199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🥔 एक गोत्र, दो जाति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आलू (Solanum tuberosum) एवं बैंगन (S. melongena) के बारे में सही कथन है—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ये भिन्न गोत्रों की जातियाँ हैं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ये भिन्न कुलों की जातियाँ हैं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ये एक ही गोत्र Solanum की भिन्न जातियाँ हैं</a:t>
            </a:r>
          </a:p>
        </p:txBody>
      </p:sp>
      <p:sp>
        <p:nvSpPr>
          <p:cNvPr id="28" name="Oval 27"/>
          <p:cNvSpPr/>
          <p:nvPr/>
        </p:nvSpPr>
        <p:spPr>
          <a:xfrm>
            <a:off x="7967167" y="4689348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इनमें कोई समानता नहीं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BA12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99880" y="2024105"/>
            <a:ext cx="2724861" cy="352732"/>
          </a:xfrm>
          <a:prstGeom prst="roundRect">
            <a:avLst>
              <a:gd name="adj" fmla="val 22000"/>
            </a:avLst>
          </a:prstGeom>
          <a:solidFill>
            <a:srgbClr val="BA1200"/>
          </a:solidFill>
          <a:ln w="12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कुल : Solanaceae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4653" y="3059569"/>
            <a:ext cx="45720" cy="176366"/>
          </a:xfrm>
          <a:prstGeom prst="rect">
            <a:avLst/>
          </a:prstGeom>
          <a:solidFill>
            <a:srgbClr val="BA1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46970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FFE0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Solanum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आलू, बैंगन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51729" y="3059569"/>
            <a:ext cx="45720" cy="176366"/>
          </a:xfrm>
          <a:prstGeom prst="rect">
            <a:avLst/>
          </a:prstGeom>
          <a:solidFill>
            <a:srgbClr val="BA1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14046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Petunia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गुलदौरा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18805" y="3059569"/>
            <a:ext cx="45720" cy="176366"/>
          </a:xfrm>
          <a:prstGeom prst="rect">
            <a:avLst/>
          </a:prstGeom>
          <a:solidFill>
            <a:srgbClr val="BA1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781122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E1F8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Datura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धतूरा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3941402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अनेक संबंधित गोत्र → कुल</a:t>
            </a:r>
          </a:p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(vegetative + reproductive दोनों लक्षण)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0983" y="4452864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9D0208"/>
                </a:solidFill>
                <a:latin typeface="Nirmala UI"/>
                <a:ea typeface="Nirmala UI"/>
                <a:cs typeface="Nirmala UI"/>
              </a:rPr>
              <a:t>क्रम : Convolvulaceae + Solanaceae → Polymoniales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9D0208"/>
                </a:solidFill>
                <a:latin typeface="Nirmala UI"/>
                <a:ea typeface="Nirmala UI"/>
                <a:cs typeface="Nirmala UI"/>
              </a:rPr>
              <a:t>(आधार — पुष्प-लक्षण)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Potato and brinjal are two different species but both belong to the genus Solanum.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48 / 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49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0018" y="1842516"/>
            <a:ext cx="1482909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🐅 गोत्र Panthera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Panthera leo, P. tigris एवं P. pardus के संबंध में सही कथन है—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ये एक ही जाति की विभिन्न उपजातियाँ हैं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ये एक ही गोत्र Panthera की भिन्न जातियाँ हैं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ये कुल Canidae के सदस्य हैं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ये भिन्न वर्ग के जीव हैं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85D0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99880" y="2024105"/>
            <a:ext cx="2724861" cy="352732"/>
          </a:xfrm>
          <a:prstGeom prst="roundRect">
            <a:avLst>
              <a:gd name="adj" fmla="val 22000"/>
            </a:avLst>
          </a:prstGeom>
          <a:solidFill>
            <a:srgbClr val="E85D04"/>
          </a:solidFill>
          <a:ln w="12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कुल : Solanaceae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4653" y="3059569"/>
            <a:ext cx="45720" cy="176366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46970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FFE8A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Solanum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आलू, बैंगन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51729" y="3059569"/>
            <a:ext cx="45720" cy="176366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14046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CDEB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Petunia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गुलदौरा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18805" y="3059569"/>
            <a:ext cx="45720" cy="176366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781122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D6F5D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Datura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धतूरा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3941402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अनेक संबंधित गोत्र → कुल</a:t>
            </a:r>
          </a:p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(vegetative + reproductive दोनों लक्षण)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0983" y="4452864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क्रम : Convolvulaceae + Solanaceae → Polymoniales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(आधार — पुष्प-लक्षण)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Lion, tiger and leopard share several common features and are species of genus Panthera; cat is in genus Felis.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49 / 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50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7471" y="1842516"/>
            <a:ext cx="1673599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🐱🐶 Felidae/Canidae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बिल्ली तथा कुत्ते किन दो कुलों में रखे जाते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Felidae एवं Canidae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Muscidae एवं Culicidae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Hominidae एवं Pongidae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Poaceae एवं Cyperaceae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Cat and dog are separated into two different families — Felidae and Canidae respectively.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51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34107" y="1842516"/>
            <a:ext cx="1298819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🌿 क्रम (Order)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कोटि 'क्रम (Order)' के बारे में सही कथन चुनिए—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D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केवल दो-तीन जातियों का समूह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संबंधित कुलों का समूह, जिनमें कुछ समान लक्षण पाए जाते हैं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केवल जंतु-जगत में पाया जाता है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सदैव केवल एक गोत्र रखता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1B7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49791" y="1988832"/>
            <a:ext cx="2425038" cy="405642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1008" y="2438370"/>
            <a:ext cx="2288354" cy="405642"/>
          </a:xfrm>
          <a:prstGeom prst="roundRect">
            <a:avLst>
              <a:gd name="adj" fmla="val 30000"/>
            </a:avLst>
          </a:prstGeom>
          <a:solidFill>
            <a:srgbClr val="FFF0B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Division / Phylum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2225" y="2887907"/>
            <a:ext cx="2151670" cy="405642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वर्ग (Class)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3442" y="3337445"/>
            <a:ext cx="2014986" cy="405642"/>
          </a:xfrm>
          <a:prstGeom prst="roundRect">
            <a:avLst>
              <a:gd name="adj" fmla="val 30000"/>
            </a:avLst>
          </a:prstGeom>
          <a:solidFill>
            <a:srgbClr val="F9D5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क्रम (Order)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4660" y="3786983"/>
            <a:ext cx="1878302" cy="405642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कुल (Family)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05877" y="4236520"/>
            <a:ext cx="1741618" cy="405642"/>
          </a:xfrm>
          <a:prstGeom prst="roundRect">
            <a:avLst>
              <a:gd name="adj" fmla="val 30000"/>
            </a:avLst>
          </a:prstGeom>
          <a:solidFill>
            <a:srgbClr val="FFF0B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गोत्र (Genus)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7094" y="4686058"/>
            <a:ext cx="1604934" cy="405642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जाति (Species)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517086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↑ ऊपर जाते ही — साझा लक्षण घटते हैं; लक्षण अधिक सामान्य एवं मौलिक बनते हैं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Order, being a higher category, is the assemblage of families which exhibit a few similar characters.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51 / 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52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3982" y="1842516"/>
            <a:ext cx="1768944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🌺 Order Polymoniales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कुल Convolvulaceae एवं Solanaceae को NCERT के अनुसार किस क्रम में तथा मुख्यतः किस आधार पर रखा गया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Rosales — पत्तियों के आधार पर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Polymoniales — पुष्प-लक्षणों (floral characters) के आधार पर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Poales — बीजाणु के आधार पर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Primata — वृद्धि के आधार पर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C918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99880" y="2024105"/>
            <a:ext cx="2724861" cy="352732"/>
          </a:xfrm>
          <a:prstGeom prst="roundRect">
            <a:avLst>
              <a:gd name="adj" fmla="val 22000"/>
            </a:avLst>
          </a:prstGeom>
          <a:solidFill>
            <a:srgbClr val="C9184A"/>
          </a:solidFill>
          <a:ln w="12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कुल : Solanaceae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4653" y="3059569"/>
            <a:ext cx="45720" cy="176366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46970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FFDDE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Solanum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आलू, बैंगन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51729" y="3059569"/>
            <a:ext cx="45720" cy="176366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14046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FFF3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Petunia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गुलदौरा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18805" y="3059569"/>
            <a:ext cx="45720" cy="176366"/>
          </a:xfrm>
          <a:prstGeom prst="rect">
            <a:avLst/>
          </a:prstGeom>
          <a:solidFill>
            <a:srgbClr val="C91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781122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D7F0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Datura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धतूरा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3941402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अनेक संबंधित गोत्र → कुल</a:t>
            </a:r>
          </a:p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(vegetative + reproductive दोनों लक्षण)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0983" y="4452864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A4133C"/>
                </a:solidFill>
                <a:latin typeface="Nirmala UI"/>
                <a:ea typeface="Nirmala UI"/>
                <a:cs typeface="Nirmala UI"/>
              </a:rPr>
              <a:t>क्रम : Convolvulaceae + Solanaceae → Polymoniales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A4133C"/>
                </a:solidFill>
                <a:latin typeface="Nirmala UI"/>
                <a:ea typeface="Nirmala UI"/>
                <a:cs typeface="Nirmala UI"/>
              </a:rPr>
              <a:t>(आधार — पुष्प-लक्षण)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Convolvulaceae, Solanaceae are included in the order Polymoniales mainly based on the floral characters.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52 / 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53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4367" y="1842516"/>
            <a:ext cx="1436703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🐒 वर्ग Mammalia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NCERT के अनुसार वर्ग Mammalia में रखे गए दो क्रम कौन-से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Diptera एवं Lepidoptera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Primata एवं Carnivora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Rosales एवं Poales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Chordata एवं Arthropoda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Order Primata (monkey, gorilla, gibbon) is placed in class Mammalia along with order Carnivora (tiger, cat, dog).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54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48048" y="1842516"/>
            <a:ext cx="1323022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🐟 संघ Chordata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मछली, उभयचर, सरीसृप, पक्षी एवं स्तनधारी सभी Phylum Chordata में क्यों रखे जाते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सभी में पंख होते हैं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नोटोकॉर्ड एवं पृष्ठीय नलोद (dorsal hollow) तंत्रिका तंत्र की उपस्थिति के कारण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सभी में फेफड़े होते हैं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सभी का रक्त लाल होता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Common features like presence of notochord and dorsal hollow neural system place them in phylum Chordata.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55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61752" y="1842516"/>
            <a:ext cx="1471174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📉 कोटि एवं लक्षण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वर्गीक्रम में जैसे-जैसे हम जाति से जगत (higher category) की ओर बढ़ते हैं, तो—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साझा लक्षणों की संख्या घटती है एवं संबंध तय करना कठिन होता है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E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साझा लक्षण बढ़ते जाते हैं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E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केवल जीवों का आकार बढ़ता है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कोई परिवर्तन नहीं होता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B72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49791" y="1988832"/>
            <a:ext cx="2425038" cy="405642"/>
          </a:xfrm>
          <a:prstGeom prst="roundRect">
            <a:avLst>
              <a:gd name="adj" fmla="val 30000"/>
            </a:avLst>
          </a:prstGeom>
          <a:solidFill>
            <a:srgbClr val="D2F4FB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1008" y="2438370"/>
            <a:ext cx="2288354" cy="405642"/>
          </a:xfrm>
          <a:prstGeom prst="roundRect">
            <a:avLst>
              <a:gd name="adj" fmla="val 30000"/>
            </a:avLst>
          </a:prstGeom>
          <a:solidFill>
            <a:srgbClr val="FFE9B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Division / Phylum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2225" y="2887907"/>
            <a:ext cx="2151670" cy="405642"/>
          </a:xfrm>
          <a:prstGeom prst="roundRect">
            <a:avLst>
              <a:gd name="adj" fmla="val 30000"/>
            </a:avLst>
          </a:prstGeom>
          <a:solidFill>
            <a:srgbClr val="DEFFD9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वर्ग (Class)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3442" y="3337445"/>
            <a:ext cx="2014986" cy="405642"/>
          </a:xfrm>
          <a:prstGeom prst="roundRect">
            <a:avLst>
              <a:gd name="adj" fmla="val 30000"/>
            </a:avLst>
          </a:prstGeom>
          <a:solidFill>
            <a:srgbClr val="F5D6F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क्रम (Order)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4660" y="3786983"/>
            <a:ext cx="1878302" cy="405642"/>
          </a:xfrm>
          <a:prstGeom prst="roundRect">
            <a:avLst>
              <a:gd name="adj" fmla="val 30000"/>
            </a:avLst>
          </a:prstGeom>
          <a:solidFill>
            <a:srgbClr val="D2F4FB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कुल (Family)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05877" y="4236520"/>
            <a:ext cx="1741618" cy="405642"/>
          </a:xfrm>
          <a:prstGeom prst="roundRect">
            <a:avLst>
              <a:gd name="adj" fmla="val 30000"/>
            </a:avLst>
          </a:prstGeom>
          <a:solidFill>
            <a:srgbClr val="FFE9B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गोत्र (Genus)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7094" y="4686058"/>
            <a:ext cx="1604934" cy="405642"/>
          </a:xfrm>
          <a:prstGeom prst="roundRect">
            <a:avLst>
              <a:gd name="adj" fmla="val 30000"/>
            </a:avLst>
          </a:prstGeom>
          <a:solidFill>
            <a:srgbClr val="DEFFD9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जाति (Species)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517086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↑ ऊपर जाते ही — साझा लक्षण घटते हैं; लक्षण अधिक सामान्य एवं मौलिक बनते हैं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As we go higher from species to kingdom, the number of common characteristics goes on decreasing.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55 / 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56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25815" y="1842516"/>
            <a:ext cx="1507112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🧬 समानता का स्तर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दो जीवों में सर्वाधिक संख्या में समान लक्षण मिलेंगे, यदि वे एक ही 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जगत के हों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कुल के हों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1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गोत्र के हों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जाति (species) के हों</a:t>
            </a:r>
          </a:p>
        </p:txBody>
      </p:sp>
      <p:sp>
        <p:nvSpPr>
          <p:cNvPr id="31" name="Oval 30"/>
          <p:cNvSpPr/>
          <p:nvPr/>
        </p:nvSpPr>
        <p:spPr>
          <a:xfrm>
            <a:off x="7967167" y="538073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BA12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49791" y="1988832"/>
            <a:ext cx="2425038" cy="405642"/>
          </a:xfrm>
          <a:prstGeom prst="roundRect">
            <a:avLst>
              <a:gd name="adj" fmla="val 30000"/>
            </a:avLst>
          </a:prstGeom>
          <a:solidFill>
            <a:srgbClr val="FFE0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1008" y="2438370"/>
            <a:ext cx="2288354" cy="405642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Division / Phylum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2225" y="2887907"/>
            <a:ext cx="2151670" cy="405642"/>
          </a:xfrm>
          <a:prstGeom prst="roundRect">
            <a:avLst>
              <a:gd name="adj" fmla="val 30000"/>
            </a:avLst>
          </a:prstGeom>
          <a:solidFill>
            <a:srgbClr val="E1F8D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वर्ग (Class)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3442" y="3337445"/>
            <a:ext cx="2014986" cy="405642"/>
          </a:xfrm>
          <a:prstGeom prst="roundRect">
            <a:avLst>
              <a:gd name="adj" fmla="val 30000"/>
            </a:avLst>
          </a:prstGeom>
          <a:solidFill>
            <a:srgbClr val="F3DEFB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क्रम (Order)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4660" y="3786983"/>
            <a:ext cx="1878302" cy="405642"/>
          </a:xfrm>
          <a:prstGeom prst="roundRect">
            <a:avLst>
              <a:gd name="adj" fmla="val 30000"/>
            </a:avLst>
          </a:prstGeom>
          <a:solidFill>
            <a:srgbClr val="FFE0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कुल (Family)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05877" y="4236520"/>
            <a:ext cx="1741618" cy="405642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गोत्र (Genus)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7094" y="4686058"/>
            <a:ext cx="1604934" cy="405642"/>
          </a:xfrm>
          <a:prstGeom prst="roundRect">
            <a:avLst>
              <a:gd name="adj" fmla="val 30000"/>
            </a:avLst>
          </a:prstGeom>
          <a:solidFill>
            <a:srgbClr val="E1F8D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जाति (Species)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517086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↑ ऊपर जाते ही — साझा लक्षण घटते हैं; लक्षण अधिक सामान्य एवं मौलिक बनते हैं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Lower the taxa, more are the characteristics that the members within the taxon share.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56 / 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57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5885" y="1842516"/>
            <a:ext cx="1477041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🧍 Table 1.1 – 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NCERT की Table 1.1 के अनुसार मनुष्य (Homo sapiens) का क्रम (Order)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Carnivora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Primata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Diptera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Rosales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85D0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29333" y="1988832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FE8A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कुल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5010" y="1988832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Hominidae / Poaceae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9333" y="2597021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CDEB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क्रम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5010" y="2597021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Primata / Poales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9333" y="3205209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6F5D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वर्ग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5010" y="3205209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Mammalia / Monocot.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9333" y="3813398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BD5E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संघ / Division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5010" y="3813398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Chordata / Angiospermae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9333" y="4421587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FE8A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जाति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5010" y="4421587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sapiens / aestivum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0983" y="5056231"/>
            <a:ext cx="2962655" cy="33969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मनुष्य : Homo sapiens  •  गेहूँ : Triticum aestivum</a:t>
            </a:r>
          </a:p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(Table 1.1 के अनुसार)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Man: Genus Homo → Family Hominidae → Order Primata → Class Mammalia → Phylum Chordata.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57 / 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58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0780" y="1842516"/>
            <a:ext cx="1782146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🪰 Table 1.1 – Housefly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गृहमख्खी (Musca domestica) का क्रम (Order)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Diptera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Lepidoptera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Hymenoptera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Coleoptera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353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29333" y="1988832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7EC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कुल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5010" y="1988832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Hominidae / Poaceae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9333" y="2597021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FE9A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क्रम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5010" y="2597021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Primata / Poales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9333" y="3205209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8F8E5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वर्ग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5010" y="3205209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Mammalia / Monocot.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9333" y="3813398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BD3E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संघ / Division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5010" y="3813398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Chordata / Angiospermae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9333" y="4421587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7EC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जाति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5010" y="4421587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sapiens / aestivum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0983" y="5056231"/>
            <a:ext cx="2962655" cy="33969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0466C8"/>
                </a:solidFill>
                <a:latin typeface="Nirmala UI"/>
                <a:ea typeface="Nirmala UI"/>
                <a:cs typeface="Nirmala UI"/>
              </a:rPr>
              <a:t>मनुष्य : Homo sapiens  •  गेहूँ : Triticum aestivum</a:t>
            </a:r>
          </a:p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0466C8"/>
                </a:solidFill>
                <a:latin typeface="Nirmala UI"/>
                <a:ea typeface="Nirmala UI"/>
                <a:cs typeface="Nirmala UI"/>
              </a:rPr>
              <a:t>(Table 1.1 के अनुसार)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Housefly: Family Muscidae → Order Diptera → Class Insecta → Phylum Arthropoda.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58 / 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59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59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0004" y="1842516"/>
            <a:ext cx="1592922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🌾 Table 1.1 – Wheat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गेहूँ (Triticum aestivum) का कुल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D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Solanaceae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Poaceae (Gramineae)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Rosaceae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Asteraceae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1B7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29333" y="1988832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कुल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5010" y="1988832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Hominidae / Poaceae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9333" y="2597021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FF0B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क्रम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5010" y="2597021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Primata / Poales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9333" y="3205209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वर्ग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5010" y="3205209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Mammalia / Monocot.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9333" y="3813398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9D5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संघ / Division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5010" y="3813398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Chordata / Angiospermae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9333" y="4421587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जाति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5010" y="4421587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sapiens / aestivum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0983" y="5056231"/>
            <a:ext cx="2962655" cy="33969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10694E"/>
                </a:solidFill>
                <a:latin typeface="Nirmala UI"/>
                <a:ea typeface="Nirmala UI"/>
                <a:cs typeface="Nirmala UI"/>
              </a:rPr>
              <a:t>मनुष्य : Homo sapiens  •  गेहूँ : Triticum aestivum</a:t>
            </a:r>
          </a:p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10694E"/>
                </a:solidFill>
                <a:latin typeface="Nirmala UI"/>
                <a:ea typeface="Nirmala UI"/>
                <a:cs typeface="Nirmala UI"/>
              </a:rPr>
              <a:t>(Table 1.1 के अनुसार)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Wheat: Genus Triticum → Family Poaceae → Order Poales → Class Monocotyledones.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59 / 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60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9200" y="1842516"/>
            <a:ext cx="1623726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🥭 Table 1.1 – Mango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आम (Mangifera indica) का कुल तथा क्रम क्रमशः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Anacardiaceae, Sapindales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F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Sapindaceae, Rosales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Annonaceae, Polymoniales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Rutaceae, Primata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C918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29333" y="1988832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FDD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कुल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5010" y="1988832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Hominidae / Poaceae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9333" y="2597021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FF3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क्रम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5010" y="2597021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Primata / Poales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9333" y="3205209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7F0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वर्ग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5010" y="3205209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Mammalia / Monocot.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9333" y="3813398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E3D7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संघ / Division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5010" y="3813398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Chordata / Angiospermae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9333" y="4421587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FDD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जाति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5010" y="4421587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sapiens / aestivum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0983" y="5056231"/>
            <a:ext cx="2962655" cy="33969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A4133C"/>
                </a:solidFill>
                <a:latin typeface="Nirmala UI"/>
                <a:ea typeface="Nirmala UI"/>
                <a:cs typeface="Nirmala UI"/>
              </a:rPr>
              <a:t>मनुष्य : Homo sapiens  •  गेहूँ : Triticum aestivum</a:t>
            </a:r>
          </a:p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A4133C"/>
                </a:solidFill>
                <a:latin typeface="Nirmala UI"/>
                <a:ea typeface="Nirmala UI"/>
                <a:cs typeface="Nirmala UI"/>
              </a:rPr>
              <a:t>(Table 1.1 के अनुसार)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Mango (Table 1.1): Family Anacardiaceae → Order Sapindales → Class Dicotyledones → Division Angiospermae.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60 / 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61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29961" y="1842516"/>
            <a:ext cx="1402965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👑 जगत (Kingdom)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वर्गीक्रम की सर्वोच्च (सबसे बड़ी) कोटि कौन-सी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कुल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गोत्र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क्रम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5A18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49791" y="1988832"/>
            <a:ext cx="2425038" cy="405642"/>
          </a:xfrm>
          <a:prstGeom prst="roundRect">
            <a:avLst>
              <a:gd name="adj" fmla="val 30000"/>
            </a:avLst>
          </a:prstGeom>
          <a:solidFill>
            <a:srgbClr val="E9D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1008" y="2438370"/>
            <a:ext cx="2288354" cy="405642"/>
          </a:xfrm>
          <a:prstGeom prst="roundRect">
            <a:avLst>
              <a:gd name="adj" fmla="val 30000"/>
            </a:avLst>
          </a:prstGeom>
          <a:solidFill>
            <a:srgbClr val="FFE6B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Division / Phylum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2225" y="2887907"/>
            <a:ext cx="2151670" cy="405642"/>
          </a:xfrm>
          <a:prstGeom prst="roundRect">
            <a:avLst>
              <a:gd name="adj" fmla="val 30000"/>
            </a:avLst>
          </a:prstGeom>
          <a:solidFill>
            <a:srgbClr val="D4F5EA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वर्ग (Class)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3442" y="3337445"/>
            <a:ext cx="2014986" cy="405642"/>
          </a:xfrm>
          <a:prstGeom prst="roundRect">
            <a:avLst>
              <a:gd name="adj" fmla="val 30000"/>
            </a:avLst>
          </a:prstGeom>
          <a:solidFill>
            <a:srgbClr val="FFD9E2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क्रम (Order)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4660" y="3786983"/>
            <a:ext cx="1878302" cy="405642"/>
          </a:xfrm>
          <a:prstGeom prst="roundRect">
            <a:avLst>
              <a:gd name="adj" fmla="val 30000"/>
            </a:avLst>
          </a:prstGeom>
          <a:solidFill>
            <a:srgbClr val="E9D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कुल (Family)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05877" y="4236520"/>
            <a:ext cx="1741618" cy="405642"/>
          </a:xfrm>
          <a:prstGeom prst="roundRect">
            <a:avLst>
              <a:gd name="adj" fmla="val 30000"/>
            </a:avLst>
          </a:prstGeom>
          <a:solidFill>
            <a:srgbClr val="FFE6B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गोत्र (Genus)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7094" y="4686058"/>
            <a:ext cx="1604934" cy="405642"/>
          </a:xfrm>
          <a:prstGeom prst="roundRect">
            <a:avLst>
              <a:gd name="adj" fmla="val 30000"/>
            </a:avLst>
          </a:prstGeom>
          <a:solidFill>
            <a:srgbClr val="D4F5EA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जाति (Species)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517086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↑ ऊपर जाते ही — साझा लक्षण घटते हैं; लक्षण अधिक सामान्य एवं मौलिक बनते हैं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All animals of various phyla are assigned to the highest category, Kingdom Animalia; similarly Kingdom Plantae.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61 / 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62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5928" y="1842516"/>
            <a:ext cx="1666998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🌿 गोत्र की अवधारणा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NCERT के अनुसार 'गोत्र (Genus)' के संबंध में सही कथन चुनिए—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प्रत्येक गोत्र में केवल एक ही जाति होती 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प्रत्येक गोत्र में एक या एक से अधिक जातियाँ हो सकती हैं, जिनमें आकृतिक समानता होती है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गोत्र में केवल दो जातियाँ होती हैं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गोत्र में केवल कुल का नाम होता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99880" y="2024105"/>
            <a:ext cx="2724861" cy="352732"/>
          </a:xfrm>
          <a:prstGeom prst="roundRect">
            <a:avLst>
              <a:gd name="adj" fmla="val 22000"/>
            </a:avLst>
          </a:prstGeom>
          <a:solidFill>
            <a:srgbClr val="9A6700"/>
          </a:solidFill>
          <a:ln w="12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कुल : Solanaceae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4653" y="3059569"/>
            <a:ext cx="45720" cy="176366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46970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FFF1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Solanum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आलू, बैंगन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51729" y="3059569"/>
            <a:ext cx="45720" cy="176366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14046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D3EF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Petunia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गुलदौरा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18805" y="3059569"/>
            <a:ext cx="45720" cy="176366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781122" y="2553205"/>
            <a:ext cx="896529" cy="652555"/>
          </a:xfrm>
          <a:prstGeom prst="roundRect">
            <a:avLst>
              <a:gd name="adj" fmla="val 30000"/>
            </a:avLst>
          </a:prstGeom>
          <a:solidFill>
            <a:srgbClr val="E7D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1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Datura</a:t>
            </a:r>
            <a:r>
              <a:rPr sz="850" b="0" i="0" lang="hi-IN" altLang="en-US">
                <a:solidFill>
                  <a:srgbClr val="44546C"/>
                </a:solidFill>
                <a:latin typeface="Nirmala UI"/>
                <a:ea typeface="Nirmala UI"/>
                <a:cs typeface="Nirmala UI"/>
              </a:rPr>
              <a:t>धतूरा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0983" y="3941402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अनेक संबंधित गोत्र → कुल</a:t>
            </a:r>
          </a:p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(vegetative + reproductive दोनों लक्षण)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0983" y="4452864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BC6C25"/>
                </a:solidFill>
                <a:latin typeface="Nirmala UI"/>
                <a:ea typeface="Nirmala UI"/>
                <a:cs typeface="Nirmala UI"/>
              </a:rPr>
              <a:t>क्रम : Convolvulaceae + Solanaceae → Polymoniales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BC6C25"/>
                </a:solidFill>
                <a:latin typeface="Nirmala UI"/>
                <a:ea typeface="Nirmala UI"/>
                <a:cs typeface="Nirmala UI"/>
              </a:rPr>
              <a:t>(आधार — पुष्प-लक्षण)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Each genus may have one or more specific epithets representing different organisms, but having morphological similarities.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62 / 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63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21391" y="1842516"/>
            <a:ext cx="1249680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🐜 आधार-लक्षण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कीटों को एक सुनिश्चित समूह (कोटि) में रखने का NCERT-उद्धृत आधार-लक्षण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तीन जोड़े जोड़-युक्त पैर (three pairs of jointed legs)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E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दो जोड़े पंख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E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शरीर का हरा रंग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केवल जल में निवास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Insects represent a group of organisms sharing common features like three pairs of jointed legs.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64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43393" y="1842516"/>
            <a:ext cx="1227677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🦆 आदिम लक्षण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अंडा देने वाले प्लैटिपस एवं काँटेदार सूअर-चींटी (spiny anteater) में सरीसृप-सदृश लक्षण (शल्क, क्लोएका) का वर्गीकरण में महत्व क्या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इसलिए उन्हें सरीसृप माना जाता 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इसलिए उन्हें पक्षी माना जाता है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8820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556252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ये आदिम/पूर्वज लक्षण जातिवृत्तीय (evolutionary) संबंध समझने में सहायक हैं</a:t>
            </a:r>
          </a:p>
        </p:txBody>
      </p:sp>
      <p:sp>
        <p:nvSpPr>
          <p:cNvPr id="28" name="Oval 27"/>
          <p:cNvSpPr/>
          <p:nvPr/>
        </p:nvSpPr>
        <p:spPr>
          <a:xfrm>
            <a:off x="11405311" y="4689348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11643055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10253167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इनका वर्गीकरण पर कोई प्रभाव नहीं पड़ता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Retained ancestral characters give information about evolution and are useful in modern-day classification.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65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3133" y="1842516"/>
            <a:ext cx="1089793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👑 द्वि-जगत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प्रारंभिक 'द्वि-जगत' (two kingdom) वर्गीकरण किन दो समूहों पर आधारित था?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पादप जगत एवं जंतु जगत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सूक्ष्मजीव एवं स्तनधारी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फफूंद एवं विषाणु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एककोशिकीय एवं बहुकोशिकीय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85D0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1971195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541217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E8A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Monera — जीवाणु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111239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CDEB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Protista — एककोशिकीय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4606" y="3681261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D6F5D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Fungi — कवक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4606" y="4251283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BD5E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Plantae — पादप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4606" y="4821305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E8A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Animalia — जंतु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0983" y="5417782"/>
            <a:ext cx="2962655" cy="52852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R.H. Whittaker (1969)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आधार: कोशिका-प्रकार, कोशिका भित्ति, पोषण, शारीरिक संगठन, जातिवृत्ति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Earlier classification divided the living world into two kingdoms — Plantae and Animalia.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65 / 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66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91794" y="1842516"/>
            <a:ext cx="1141133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🖐️ पाँच जगत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पाँच जगत (five kingdom) वर्गीकरण किसने तथा कब प्रस्तुत किया?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D7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लिनियस ने, 1735 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आर.एच. विटकर ने, 1969 में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कार्ल वूज ने, 1990 में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हैकेल ने, 1866 में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353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1971195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541217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D7EC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Monera — जीवाणु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111239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E9A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Protista — एककोशिकीय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4606" y="3681261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D8F8E5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Fungi — कवक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4606" y="4251283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BD3E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Plantae — पादप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4606" y="4821305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D7EC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Animalia — जंतु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0983" y="5417782"/>
            <a:ext cx="2962655" cy="52852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R.H. Whittaker (1969)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आधार: कोशिका-प्रकार, कोशिका भित्ति, पोषण, शारीरिक संगठन, जातिवृत्ति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R.H. Whittaker (1969) proposed the five-kingdom classification of organisms.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66 / 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67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91794" y="1842516"/>
            <a:ext cx="1141133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🖐️ पाँच जगत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विटकर के पाँचों जगतों का सही क्रम (सरल से जटिल)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Monera, Protista, Fungi, Plantae, Animalia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F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Fungi, Monera, Plantae, Animalia, Protista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Protista, Fungi, Monera, Animalia, Plantae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Plantae, Monera, Animalia, Fungi, Protista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1B7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1971195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541217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Monera — जीवाणु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111239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F0B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Protista — एककोशिकीय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4606" y="3681261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Fungi — कवक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4606" y="4251283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9D5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Plantae — पादप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4606" y="4821305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Animalia — जंतु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0983" y="5417782"/>
            <a:ext cx="2962655" cy="52852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R.H. Whittaker (1969)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आधार: कोशिका-प्रकार, कोशिका भित्ति, पोषण, शारीरिक संगठन, जातिवृत्ति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Kingdoms: Monera → Protista → Fungi → Plantae → Animalia.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67 / 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68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25815" y="1842516"/>
            <a:ext cx="1507112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🦠 विषाणु एवं जगत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निम्न में से कौन-सा विटकर के पाँच जगतों में शामिल नहीं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Monera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F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Protista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Fungi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विषाणु (Virus) का जगत</a:t>
            </a:r>
          </a:p>
        </p:txBody>
      </p:sp>
      <p:sp>
        <p:nvSpPr>
          <p:cNvPr id="31" name="Oval 30"/>
          <p:cNvSpPr/>
          <p:nvPr/>
        </p:nvSpPr>
        <p:spPr>
          <a:xfrm>
            <a:off x="7967167" y="538073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C918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1971195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541217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DD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Monera — जीवाणु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111239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F3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Protista — एककोशिकीय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4606" y="3681261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D7F0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Fungi — कवक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4606" y="4251283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E3D7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Plantae — पादप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4606" y="4821305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DD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Animalia — जंतु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0983" y="5417782"/>
            <a:ext cx="2962655" cy="52852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R.H. Whittaker (1969)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आधार: कोशिका-प्रकार, कोशिका भित्ति, पोषण, शारीरिक संगठन, जातिवृत्ति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पाँच जगत वर्गीकरण में विषाणु को अलग जगत नहीं दिया गया; वे अकोशिकीय (non-cellular) हैं।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68 / 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69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69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5928" y="1842516"/>
            <a:ext cx="1666998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🧾 वर्गीकरण का आधार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विटकर के वर्गीकरण का आधार कौन-सा नहीं था?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कोशिका का प्रकार (prokaryotic/eukaryotic)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कोशिका भित्ति की उपस्थिति-अनुपस्थिति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पोषण की पद्धति एवं शारीरिक संगठन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शरीर का रंग एवं सुगंध</a:t>
            </a:r>
          </a:p>
        </p:txBody>
      </p:sp>
      <p:sp>
        <p:nvSpPr>
          <p:cNvPr id="31" name="Oval 30"/>
          <p:cNvSpPr/>
          <p:nvPr/>
        </p:nvSpPr>
        <p:spPr>
          <a:xfrm>
            <a:off x="7967167" y="5338413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5A18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1971195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2541217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E9D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Monera — जीवाणु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111239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E6B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Protista — एककोशिकीय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4606" y="3681261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D4F5EA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Fungi — कवक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4606" y="4251283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FFD9E2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Plantae — पादप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4606" y="4821305"/>
            <a:ext cx="2795408" cy="370369"/>
          </a:xfrm>
          <a:prstGeom prst="roundRect">
            <a:avLst>
              <a:gd name="adj" fmla="val 30000"/>
            </a:avLst>
          </a:prstGeom>
          <a:solidFill>
            <a:srgbClr val="E9D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19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Animalia — जंतु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0983" y="5417782"/>
            <a:ext cx="2962655" cy="52852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R.H. Whittaker (1969)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आधार: कोशिका-प्रकार, कोशिका भित्ति, पोषण, शारीरिक संगठन, जातिवृत्ति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Basis — cell type, cell wall, mode of nutrition, body organisation and phylogeny; रंग/सुगंध नहीं।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69 / 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70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9255" y="1842516"/>
            <a:ext cx="1183671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🧬 तीन डोमेन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तीन-डोमेन (three domain) वर्गीकरण किसने प्रस्तावित किया?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कार्ल वूज (Carl Woese)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D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कैरोलस लिनियस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आर.एच. विटकर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बेंथम एवं हुकर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687829"/>
          </a:xfrm>
          <a:prstGeom prst="roundRect">
            <a:avLst>
              <a:gd name="adj" fmla="val 30000"/>
            </a:avLst>
          </a:prstGeom>
          <a:solidFill>
            <a:srgbClr val="FFF1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Archaea</a:t>
            </a:r>
            <a:r>
              <a:rPr sz="85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अति उष्ण/लवणीय आवास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3037753"/>
            <a:ext cx="2795408" cy="687829"/>
          </a:xfrm>
          <a:prstGeom prst="roundRect">
            <a:avLst>
              <a:gd name="adj" fmla="val 30000"/>
            </a:avLst>
          </a:prstGeom>
          <a:solidFill>
            <a:srgbClr val="D3EF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Bacteria</a:t>
            </a:r>
            <a:r>
              <a:rPr sz="85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सच्चे जीवाणु (Eubacteria)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4069038"/>
            <a:ext cx="2795408" cy="687829"/>
          </a:xfrm>
          <a:prstGeom prst="roundRect">
            <a:avLst>
              <a:gd name="adj" fmla="val 30000"/>
            </a:avLst>
          </a:prstGeom>
          <a:solidFill>
            <a:srgbClr val="E7D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Eukarya</a:t>
            </a:r>
            <a:r>
              <a:rPr sz="85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सुकेंद्रिक — पादप, जंतु, कवक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5135596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कार्ल वूज (1990) — rRNA/जातिवृत्तीय संबंधों पर आधारित तीन डोमेन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Carl Woese (1990) — three domains on the basis of phylogenetic structure (rRNA sequence).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70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71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9255" y="1842516"/>
            <a:ext cx="1183671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🧬 तीन डोमेन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वूज के तीन डोमेनों में से कौन-सा नहीं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Archaea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Bacteria (Eubacteria)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E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Eukarya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Fungi</a:t>
            </a:r>
          </a:p>
        </p:txBody>
      </p:sp>
      <p:sp>
        <p:nvSpPr>
          <p:cNvPr id="31" name="Oval 30"/>
          <p:cNvSpPr/>
          <p:nvPr/>
        </p:nvSpPr>
        <p:spPr>
          <a:xfrm>
            <a:off x="7967167" y="5338413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B72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006469"/>
            <a:ext cx="2795408" cy="687829"/>
          </a:xfrm>
          <a:prstGeom prst="roundRect">
            <a:avLst>
              <a:gd name="adj" fmla="val 30000"/>
            </a:avLst>
          </a:prstGeom>
          <a:solidFill>
            <a:srgbClr val="D2F4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Archaea</a:t>
            </a:r>
            <a:r>
              <a:rPr sz="85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अति उष्ण/लवणीय आवास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4606" y="3037753"/>
            <a:ext cx="2795408" cy="687829"/>
          </a:xfrm>
          <a:prstGeom prst="roundRect">
            <a:avLst>
              <a:gd name="adj" fmla="val 30000"/>
            </a:avLst>
          </a:prstGeom>
          <a:solidFill>
            <a:srgbClr val="FFE9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Bacteria</a:t>
            </a:r>
            <a:r>
              <a:rPr sz="85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सच्चे जीवाणु (Eubacteria)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4069038"/>
            <a:ext cx="2795408" cy="687829"/>
          </a:xfrm>
          <a:prstGeom prst="roundRect">
            <a:avLst>
              <a:gd name="adj" fmla="val 30000"/>
            </a:avLst>
          </a:prstGeom>
          <a:solidFill>
            <a:srgbClr val="DEFFD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>
              <a:lnSpc>
                <a:spcPct val="100000"/>
              </a:lnSpc>
            </a:pPr>
            <a:r>
              <a:rPr sz="120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Eukarya</a:t>
            </a:r>
            <a:r>
              <a:rPr sz="85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सुकेंद्रिक — पादप, जंतु, कवक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0983" y="5135596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कार्ल वूज (1990) — rRNA/जातिवृत्तीय संबंधों पर आधारित तीन डोमेन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तीन डोमेन — Archaea, Bacteria एवं Eukarya; Fungi तो Eukarya के अंतर्गत एक जगत है।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71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72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59558" y="1842516"/>
            <a:ext cx="1511512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🎭 कृत्रिम पद्धति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'कृत्रिम वर्गीकरण पद्धति (artificial system)' की मुख्य विशेषता क्या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केवल कुछ सुलभ बाह्य/आकृतिक लक्षणों पर आधारित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जातिवृत्तीय संबंधों पर आधारित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E1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rRNA अनुक्रम पर आधारित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केवल आनुवंशिकी पर आधारित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Artificial systems relied on a few easily observable superficial characters — e.g., Linnaeus's sexual system.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73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43393" y="1842516"/>
            <a:ext cx="1227677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🌼 यौन पद्धति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लिनियस की 'यौन पद्धति (sexual system)' मुख्यतः किस दल की संरचना पर आधारित थी?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पुंकेसर एवं मादा-केसर (androecium/gynoecium)</a:t>
            </a:r>
          </a:p>
        </p:txBody>
      </p:sp>
      <p:sp>
        <p:nvSpPr>
          <p:cNvPr id="22" name="Oval 21"/>
          <p:cNvSpPr/>
          <p:nvPr/>
        </p:nvSpPr>
        <p:spPr>
          <a:xfrm>
            <a:off x="11405311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बीजावर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जड़-तंत्र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बीजफलक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Linnaeus classified plants mainly on the basis of number and arrangement of stamens and carpels.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74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7021" y="1842516"/>
            <a:ext cx="2074049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🌳 प्राकृतिक/जातिवृत्तीय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'प्राकृतिक' एवं 'जातिवृत्तीय (phylogenetic)' वर्गीकरण में मुख्य अंतर क्या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7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प्राकृतिक में केवल एक लक्षण प्रयुक्त होता 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प्राकृतिक अनेक सहसंबद्ध लक्षणों पर, जबकि जातिवृत्तीय विकास एवं आनुवंशिक संबंधों पर आधारित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दोनों पूर्णतः समान हैं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जातिवृत्तीय केवल पादपों हेतु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Natural systems use many correlated characters; phylogenetic systems try to reflect evolutionary relationships.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75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5476" y="1842516"/>
            <a:ext cx="1547450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🧰 वर्गीकीय सहायक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NCERT के अनुसार 'वर्गीकीय सहायक (taxonomical aids)' में क्या-क्या शामिल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DD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केवल हर्बेरियम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हर्बेरियम, वनस्पति उद्यान, संग्रहालय, कुंजी (keys) एवं साहित्य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केवल कुंजी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केवल फूलों का संग्रह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1B7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46970" y="1988832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हर्बेरियम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शुष्क-पीसे पत्रक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635821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FF0B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वनस्पति उद्यान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जीवित पादप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6970" y="3282811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संग्रहालय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संरक्षित नमूने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6970" y="3929800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9D5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कुंजी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विश्लेषणात्मक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46970" y="4576789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साहित्य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Flora • Manual • Monograph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0983" y="5241415"/>
            <a:ext cx="2962655" cy="20048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वर्गीकरण-अध्ययन को सुगम बनाने वाले साधन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Herbarium, botanical gardens, museums, keys and literature are some important taxonomical aids.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75 /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76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4854" y="1842516"/>
            <a:ext cx="1188072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🍃 हर्बेरियम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'हर्बेरियम (herbarium)' की सही परिभाषा है—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जीवित पादपों का उद्यान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संग्रहित पादप-नमूनों का भंडार — जो शुष्क, पीसे एवं पत्रकों पर संरक्षित होते हैं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कीटों का डिब्बा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केवल पुस्तकों का संग्रह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herbar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C918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20547" y="3269267"/>
            <a:ext cx="2883526" cy="1224626"/>
          </a:xfrm>
          <a:prstGeom prst="rect">
            <a:avLst/>
          </a:prstGeom>
          <a:solidFill>
            <a:srgbClr val="FFFDF5"/>
          </a:solidFill>
          <a:ln w="2032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53287" y="3359503"/>
            <a:ext cx="45720" cy="708994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20640000">
            <a:off x="9888477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 rot="960000">
            <a:off x="10429891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 rot="20640000">
            <a:off x="9888477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 rot="960000">
            <a:off x="10429891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 rot="20640000">
            <a:off x="9888477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 rot="960000">
            <a:off x="10429891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 rot="20640000">
            <a:off x="9888477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 rot="960000">
            <a:off x="10429891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91411" y="3249931"/>
            <a:ext cx="141798" cy="116017"/>
          </a:xfrm>
          <a:prstGeom prst="ellipse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39691" y="3488411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39691" y="3823572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10783" y="4171624"/>
            <a:ext cx="2703055" cy="28359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49455" y="4197406"/>
            <a:ext cx="2625710" cy="29169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Family • Genus • Species |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स्थानीय नाम, उपयोगी भाग, तिथि, आवास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0983" y="4545457"/>
            <a:ext cx="2962655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शीट ≈ 41 × 29 से.मी. — मान्य वर्गीकरण पद्धति के अनुसार रैक में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A herbarium is a store house of collected plant specimens that are dried, pressed and preserved on sheets.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76 / 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77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5576" y="1842516"/>
            <a:ext cx="1817350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🍃 हर्बेरियम-व्यवस्था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हर्बेरियम के पत्रक (sheets) किसके अनुसार व्यवस्थित रखे जाते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वर्णक्रम (A–Z) 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सर्व स्वीकृत (universally accepted) वर्गीकरण पद्धति के अनुसार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नमूनों के आकार के क्रम में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संग्रहकर्ता के जिले के अनुसार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herbar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5A18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20547" y="3269267"/>
            <a:ext cx="2883526" cy="1224626"/>
          </a:xfrm>
          <a:prstGeom prst="rect">
            <a:avLst/>
          </a:prstGeom>
          <a:solidFill>
            <a:srgbClr val="FFFDF5"/>
          </a:solidFill>
          <a:ln w="2032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53287" y="3359503"/>
            <a:ext cx="45720" cy="708994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20640000">
            <a:off x="9888477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 rot="960000">
            <a:off x="10429891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 rot="20640000">
            <a:off x="9888477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 rot="960000">
            <a:off x="10429891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 rot="20640000">
            <a:off x="9888477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 rot="960000">
            <a:off x="10429891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 rot="20640000">
            <a:off x="9888477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 rot="960000">
            <a:off x="10429891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91411" y="3249931"/>
            <a:ext cx="141798" cy="116017"/>
          </a:xfrm>
          <a:prstGeom prst="ellipse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39691" y="3488411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39691" y="3823572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10783" y="4171624"/>
            <a:ext cx="2703055" cy="28359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49455" y="4197406"/>
            <a:ext cx="2625710" cy="29169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Family • Genus • Species |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स्थानीय नाम, उपयोगी भाग, तिथि, आवास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0983" y="4545457"/>
            <a:ext cx="2962655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शीट ≈ 41 × 29 से.मी. — मान्य वर्गीकरण पद्धति के अनुसार रैक में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The sheets are arranged according to a universally accepted system of classification.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77 / 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78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12134" y="1842516"/>
            <a:ext cx="1620793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🏷️ हर्बेरियम लेबल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हर्बेरियम-पत्रक के लेबल पर सामान्यतः कौन-सा विवरण दर्ज नहीं किया जाता?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कुल, गोत्र, जाति एवं variety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D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स्थानीय नाम तथा उपयोगी भाग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एकत्रण की तिथि, आवास एवं वितरण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शीट बनाने वाले व्यक्ति की आयु एवं वजन</a:t>
            </a:r>
          </a:p>
        </p:txBody>
      </p:sp>
      <p:sp>
        <p:nvSpPr>
          <p:cNvPr id="31" name="Oval 30"/>
          <p:cNvSpPr/>
          <p:nvPr/>
        </p:nvSpPr>
        <p:spPr>
          <a:xfrm>
            <a:off x="7967167" y="538073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herbar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20547" y="3269267"/>
            <a:ext cx="2883526" cy="1224626"/>
          </a:xfrm>
          <a:prstGeom prst="rect">
            <a:avLst/>
          </a:prstGeom>
          <a:solidFill>
            <a:srgbClr val="FFFDF5"/>
          </a:solidFill>
          <a:ln w="2032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53287" y="3359503"/>
            <a:ext cx="45720" cy="708994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20640000">
            <a:off x="9888477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 rot="960000">
            <a:off x="10429891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 rot="20640000">
            <a:off x="9888477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 rot="960000">
            <a:off x="10429891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 rot="20640000">
            <a:off x="9888477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 rot="960000">
            <a:off x="10429891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 rot="20640000">
            <a:off x="9888477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 rot="960000">
            <a:off x="10429891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91411" y="3249931"/>
            <a:ext cx="141798" cy="116017"/>
          </a:xfrm>
          <a:prstGeom prst="ellipse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39691" y="3488411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39691" y="3823572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10783" y="4171624"/>
            <a:ext cx="2703055" cy="28359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49455" y="4197406"/>
            <a:ext cx="2625710" cy="29169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Family • Genus • Species |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स्थानीय नाम, उपयोगी भाग, तिथि, आवास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0983" y="4545457"/>
            <a:ext cx="2962655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शीट ≈ 41 × 29 से.मी. — मान्य वर्गीकरण पद्धति के अनुसार रैक में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लेबल पर: field catalogue क्रमांक, family, genus, species, variety, local name, useful parts, collection date, habitat, distribution.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78 / 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79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79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8242" y="1842516"/>
            <a:ext cx="1824685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🗂️ हर्बेरियम निर्माण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हर्बेरियम नमूना तैयार करने का सही क्रम चुनिए—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संग्रहण → प्रेस में दबाकर सुखाना → पत्रक पर स्थिर (fix) → लेबल लगाकर संग्रह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E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लेबल → संग्रहण → सुखाना → पत्रक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E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पत्रक → संग्रहण → प्रेस → सुखाना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सुखाना → लेबल → पत्रक → संग्रहण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herbar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B72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94766" y="3284112"/>
            <a:ext cx="257816" cy="257816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81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82" y="3222880"/>
            <a:ext cx="2677273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पादप-संग्रहण + field catalogue क्रमांक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5001" y="3512924"/>
            <a:ext cx="45720" cy="212698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94766" y="3819080"/>
            <a:ext cx="257816" cy="257816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81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82" y="3757849"/>
            <a:ext cx="2677273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पौधा-प्रेस में दबाकर सुखाना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85001" y="4047892"/>
            <a:ext cx="45720" cy="212698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94766" y="4354049"/>
            <a:ext cx="257816" cy="257816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81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82" y="4292818"/>
            <a:ext cx="2677273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शीट पर fix + कीट-नाशक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85001" y="4582861"/>
            <a:ext cx="45720" cy="212698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94766" y="4889018"/>
            <a:ext cx="257816" cy="257816"/>
          </a:xfrm>
          <a:prstGeom prst="ellipse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81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82" y="4827786"/>
            <a:ext cx="2677273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लेबल; रैक में वर्गीक्रम अनुसार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0983" y="5388536"/>
            <a:ext cx="2962655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हर्बेरियम = त्वरित संदर्भ (quick referral)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Specimens are prepared by collecting, pressing and preserving plant material, then fixed on sheets and labelled.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79 / 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80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29707" y="1842516"/>
            <a:ext cx="1303220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📐 शीट का आकार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मानक हर्बेरियम शीट (sheet) का आकार लगभग कितना होता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41 × 29 से.मी.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01031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10 × 8 से.मी.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E1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100 × 60 से.मी.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5 × 4 से.मी.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herbar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BA12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20547" y="3269267"/>
            <a:ext cx="2883526" cy="1224626"/>
          </a:xfrm>
          <a:prstGeom prst="rect">
            <a:avLst/>
          </a:prstGeom>
          <a:solidFill>
            <a:srgbClr val="FFFDF5"/>
          </a:solidFill>
          <a:ln w="2032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53287" y="3359503"/>
            <a:ext cx="45720" cy="708994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20640000">
            <a:off x="9888477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 rot="960000">
            <a:off x="10429891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 rot="20640000">
            <a:off x="9888477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 rot="960000">
            <a:off x="10429891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 rot="20640000">
            <a:off x="9888477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 rot="960000">
            <a:off x="10429891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 rot="20640000">
            <a:off x="9888477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 rot="960000">
            <a:off x="10429891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91411" y="3249931"/>
            <a:ext cx="141798" cy="116017"/>
          </a:xfrm>
          <a:prstGeom prst="ellipse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39691" y="3488411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39691" y="3823572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10783" y="4171624"/>
            <a:ext cx="2703055" cy="28359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49455" y="4197406"/>
            <a:ext cx="2625710" cy="29169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Family • Genus • Species |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स्थानीय नाम, उपयोगी भाग, तिथि, आवास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0983" y="4545457"/>
            <a:ext cx="2962655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शीट ≈ 41 × 29 से.मी. — मान्य वर्गीकरण पद्धति के अनुसार रैक में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व्यावहारिक मानक — लगभग 41 × 29 से.मी. (16 × 11 इंच) की शीट प्रयोग की जाती है।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80 / 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81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21414" y="1842516"/>
            <a:ext cx="1511512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🌴 वनस्पति उद्यान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'वनस्पति उद्यान (botanical garden)' की मुख्य विशेषता क्या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केवल सूखे नमूने रखे जाते हैं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जीवित पादप — प्रत्येक पर वैज्ञानिक एवं सामान्य नाम का लेबल; कुलवार जोनों में रोपण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केवल कीट-संग्रह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केवल औषधि-विक्रय केन्द्र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ard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85D0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49455" y="3480697"/>
            <a:ext cx="2625710" cy="592977"/>
          </a:xfrm>
          <a:prstGeom prst="roundRect">
            <a:avLst>
              <a:gd name="adj" fmla="val 30000"/>
            </a:avLst>
          </a:prstGeom>
          <a:solidFill>
            <a:srgbClr val="CDEFFB"/>
          </a:solidFill>
          <a:ln w="1778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9052582" y="3248662"/>
            <a:ext cx="2419457" cy="309379"/>
          </a:xfrm>
          <a:prstGeom prst="triangle">
            <a:avLst/>
          </a:prstGeom>
          <a:solidFill>
            <a:srgbClr val="7FC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4145" y="3751404"/>
            <a:ext cx="167580" cy="16758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21551" y="3751404"/>
            <a:ext cx="167580" cy="1675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38957" y="3751404"/>
            <a:ext cx="167580" cy="167580"/>
          </a:xfrm>
          <a:prstGeom prst="ellipse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94766" y="4151019"/>
            <a:ext cx="2935090" cy="283597"/>
          </a:xfrm>
          <a:prstGeom prst="roundRect">
            <a:avLst>
              <a:gd name="adj" fmla="val 30000"/>
            </a:avLst>
          </a:prstGeom>
          <a:solidFill>
            <a:srgbClr val="FFE8A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क्यू (Kew)  </a:t>
            </a:r>
            <a:r>
              <a:rPr sz="74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1759 • &gt;45,000 जातियाँ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94766" y="4602197"/>
            <a:ext cx="2935090" cy="283597"/>
          </a:xfrm>
          <a:prstGeom prst="roundRect">
            <a:avLst>
              <a:gd name="adj" fmla="val 30000"/>
            </a:avLst>
          </a:prstGeom>
          <a:solidFill>
            <a:srgbClr val="CDEB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शिबपुर, हावड़ा  </a:t>
            </a:r>
            <a:r>
              <a:rPr sz="74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स्थापना 1787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4766" y="5053375"/>
            <a:ext cx="2935090" cy="283597"/>
          </a:xfrm>
          <a:prstGeom prst="roundRect">
            <a:avLst>
              <a:gd name="adj" fmla="val 30000"/>
            </a:avLst>
          </a:prstGeom>
          <a:solidFill>
            <a:srgbClr val="D6F5D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NBRI, लखनऊ  </a:t>
            </a:r>
            <a:r>
              <a:rPr sz="74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प्रसिद्ध केन्द्र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0983" y="5014703"/>
            <a:ext cx="2962655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वनस्पति उद्यान = जीवित पादप + वैज्ञानिक/सामान्य नाम का लेबल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Botanical gardens contain living plants for reference; each plant labelled with scientific and common names.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81 / 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82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4968" y="1842516"/>
            <a:ext cx="1347958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🌿 Kew Gardens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लंदन के समीपस्थ 'क्यू (Kew)' वनस्पति उद्यान के संबंध में सही कथन चुनिए—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स्थापना 1759; संग्रह में 45,000 से अधिक पादप जातियाँ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स्थापना 1859; 4,500 जातियाँ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स्थापना 1969; 45,000 जातियाँ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स्थापना 1735; 1,700 जातियाँ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ard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353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49455" y="3480697"/>
            <a:ext cx="2625710" cy="592977"/>
          </a:xfrm>
          <a:prstGeom prst="roundRect">
            <a:avLst>
              <a:gd name="adj" fmla="val 30000"/>
            </a:avLst>
          </a:prstGeom>
          <a:solidFill>
            <a:srgbClr val="CDEFFB"/>
          </a:solidFill>
          <a:ln w="1778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9052582" y="3248662"/>
            <a:ext cx="2419457" cy="309379"/>
          </a:xfrm>
          <a:prstGeom prst="triangle">
            <a:avLst/>
          </a:prstGeom>
          <a:solidFill>
            <a:srgbClr val="7FC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4145" y="3751404"/>
            <a:ext cx="167580" cy="16758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21551" y="3751404"/>
            <a:ext cx="167580" cy="1675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38957" y="3751404"/>
            <a:ext cx="167580" cy="167580"/>
          </a:xfrm>
          <a:prstGeom prst="ellipse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94766" y="4151019"/>
            <a:ext cx="2935090" cy="283597"/>
          </a:xfrm>
          <a:prstGeom prst="roundRect">
            <a:avLst>
              <a:gd name="adj" fmla="val 30000"/>
            </a:avLst>
          </a:prstGeom>
          <a:solidFill>
            <a:srgbClr val="D7EC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क्यू (Kew)  </a:t>
            </a:r>
            <a:r>
              <a:rPr sz="74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1759 • &gt;45,000 जातियाँ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94766" y="4602197"/>
            <a:ext cx="2935090" cy="283597"/>
          </a:xfrm>
          <a:prstGeom prst="roundRect">
            <a:avLst>
              <a:gd name="adj" fmla="val 30000"/>
            </a:avLst>
          </a:prstGeom>
          <a:solidFill>
            <a:srgbClr val="FFE9A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शिबपुर, हावड़ा  </a:t>
            </a:r>
            <a:r>
              <a:rPr sz="74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स्थापना 1787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4766" y="5053375"/>
            <a:ext cx="2935090" cy="283597"/>
          </a:xfrm>
          <a:prstGeom prst="roundRect">
            <a:avLst>
              <a:gd name="adj" fmla="val 30000"/>
            </a:avLst>
          </a:prstGeom>
          <a:solidFill>
            <a:srgbClr val="D8F8E5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NBRI, लखनऊ  </a:t>
            </a:r>
            <a:r>
              <a:rPr sz="74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प्रसिद्ध केन्द्र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0983" y="5014703"/>
            <a:ext cx="2962655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वनस्पति उद्यान = जीवित पादप + वैज्ञानिक/सामान्य नाम का लेबल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Kew, established in 1759, has over 45,000 species of plant in its collection.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82 / 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83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65419" y="1842516"/>
            <a:ext cx="1467507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🌴 शिबपुर उद्यान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शिबपुर (हावड़ा) के 'इंडियन बॉटनिकल गार्डन' की स्थापना किस वर्ष हुई थी?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1787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F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1857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1947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1759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ard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1B7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49455" y="3480697"/>
            <a:ext cx="2625710" cy="592977"/>
          </a:xfrm>
          <a:prstGeom prst="roundRect">
            <a:avLst>
              <a:gd name="adj" fmla="val 30000"/>
            </a:avLst>
          </a:prstGeom>
          <a:solidFill>
            <a:srgbClr val="CDEFFB"/>
          </a:solidFill>
          <a:ln w="1778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9052582" y="3248662"/>
            <a:ext cx="2419457" cy="309379"/>
          </a:xfrm>
          <a:prstGeom prst="triangle">
            <a:avLst/>
          </a:prstGeom>
          <a:solidFill>
            <a:srgbClr val="7FC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4145" y="3751404"/>
            <a:ext cx="167580" cy="16758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21551" y="3751404"/>
            <a:ext cx="167580" cy="1675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38957" y="3751404"/>
            <a:ext cx="167580" cy="167580"/>
          </a:xfrm>
          <a:prstGeom prst="ellipse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94766" y="4151019"/>
            <a:ext cx="2935090" cy="283597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क्यू (Kew)  </a:t>
            </a:r>
            <a:r>
              <a:rPr sz="74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1759 • &gt;45,000 जातियाँ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94766" y="4602197"/>
            <a:ext cx="2935090" cy="283597"/>
          </a:xfrm>
          <a:prstGeom prst="roundRect">
            <a:avLst>
              <a:gd name="adj" fmla="val 30000"/>
            </a:avLst>
          </a:prstGeom>
          <a:solidFill>
            <a:srgbClr val="FFF0B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शिबपुर, हावड़ा  </a:t>
            </a:r>
            <a:r>
              <a:rPr sz="74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स्थापना 1787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4766" y="5053375"/>
            <a:ext cx="2935090" cy="283597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NBRI, लखनऊ  </a:t>
            </a:r>
            <a:r>
              <a:rPr sz="74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प्रसिद्ध केन्द्र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0983" y="5014703"/>
            <a:ext cx="2962655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वनस्पति उद्यान = जीवित पादप + वैज्ञानिक/सामान्य नाम का लेबल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The Indian Botanical Garden at Shibpur, Howrah was established in 1787.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83 / 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84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1584" y="1842516"/>
            <a:ext cx="1751342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🏆 बृहत्तम हर्बेरियम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NCERT के अनुसार विश्व का सबसे बड़ा हर्बेरियम कहां स्थित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क्यू (Kew), इंग्लैंड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F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न्यूयॉर्क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पेरिस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वाशिंगटन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herbar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C918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20547" y="3269267"/>
            <a:ext cx="2883526" cy="1224626"/>
          </a:xfrm>
          <a:prstGeom prst="rect">
            <a:avLst/>
          </a:prstGeom>
          <a:solidFill>
            <a:srgbClr val="FFFDF5"/>
          </a:solidFill>
          <a:ln w="2032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53287" y="3359503"/>
            <a:ext cx="45720" cy="708994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20640000">
            <a:off x="9888477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 rot="960000">
            <a:off x="10429891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 rot="20640000">
            <a:off x="9888477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 rot="960000">
            <a:off x="10429891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 rot="20640000">
            <a:off x="9888477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 rot="960000">
            <a:off x="10429891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 rot="20640000">
            <a:off x="9888477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 rot="960000">
            <a:off x="10429891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91411" y="3249931"/>
            <a:ext cx="141798" cy="116017"/>
          </a:xfrm>
          <a:prstGeom prst="ellipse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39691" y="3488411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39691" y="3823572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10783" y="4171624"/>
            <a:ext cx="2703055" cy="28359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49455" y="4197406"/>
            <a:ext cx="2625710" cy="29169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Family • Genus • Species |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स्थानीय नाम, उपयोगी भाग, तिथि, आवास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0983" y="4545457"/>
            <a:ext cx="2962655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शीट ≈ 41 × 29 से.मी. — मान्य वर्गीकरण पद्धति के अनुसार रैक में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The largest herbarium of the world is at Kew (England).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84 / 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85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7450" y="1842516"/>
            <a:ext cx="1225476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🏛️ संग्रहालय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संग्रहालय (museum) में बड़े स्तनधारी प्राणियों के नमूने सामान्यतः किस अवस्था में रखे जाते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केवल जल में डुबोकर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भरे-पूरे (stuffed) अवस्था में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मिट्टी में दबाकर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केवल धूप में सुखाकर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use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5A18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33438" y="3333721"/>
            <a:ext cx="926800" cy="554304"/>
          </a:xfrm>
          <a:prstGeom prst="roundRect">
            <a:avLst>
              <a:gd name="adj" fmla="val 22000"/>
            </a:avLst>
          </a:prstGeom>
          <a:solidFill>
            <a:srgbClr val="EAF7FF"/>
          </a:solidFill>
          <a:ln w="1524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72110" y="3501302"/>
            <a:ext cx="849455" cy="309379"/>
          </a:xfrm>
          <a:prstGeom prst="rect">
            <a:avLst/>
          </a:prstGeom>
          <a:solidFill>
            <a:srgbClr val="9A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97892" y="3275713"/>
            <a:ext cx="797892" cy="83790"/>
          </a:xfrm>
          <a:prstGeom prst="rect">
            <a:avLst/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92465" y="3333721"/>
            <a:ext cx="926800" cy="554304"/>
          </a:xfrm>
          <a:prstGeom prst="roundRect">
            <a:avLst>
              <a:gd name="adj" fmla="val 22000"/>
            </a:avLst>
          </a:prstGeom>
          <a:solidFill>
            <a:srgbClr val="EAF7FF"/>
          </a:solidFill>
          <a:ln w="1524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31138" y="3501302"/>
            <a:ext cx="849455" cy="309379"/>
          </a:xfrm>
          <a:prstGeom prst="rect">
            <a:avLst/>
          </a:prstGeom>
          <a:solidFill>
            <a:srgbClr val="9A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56919" y="3275713"/>
            <a:ext cx="797892" cy="83790"/>
          </a:xfrm>
          <a:prstGeom prst="rect">
            <a:avLst/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751492" y="3333721"/>
            <a:ext cx="926800" cy="554304"/>
          </a:xfrm>
          <a:prstGeom prst="roundRect">
            <a:avLst>
              <a:gd name="adj" fmla="val 22000"/>
            </a:avLst>
          </a:prstGeom>
          <a:solidFill>
            <a:srgbClr val="EAF7FF"/>
          </a:solidFill>
          <a:ln w="1524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90165" y="3501302"/>
            <a:ext cx="849455" cy="309379"/>
          </a:xfrm>
          <a:prstGeom prst="rect">
            <a:avLst/>
          </a:prstGeom>
          <a:solidFill>
            <a:srgbClr val="9A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815946" y="3275713"/>
            <a:ext cx="797892" cy="83790"/>
          </a:xfrm>
          <a:prstGeom prst="rect">
            <a:avLst/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820547" y="3978262"/>
            <a:ext cx="2883526" cy="412505"/>
          </a:xfrm>
          <a:prstGeom prst="roundRect">
            <a:avLst>
              <a:gd name="adj" fmla="val 12000"/>
            </a:avLst>
          </a:prstGeom>
          <a:solidFill>
            <a:srgbClr val="FFF3D6"/>
          </a:solidFill>
          <a:ln w="1524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exagon 44"/>
          <p:cNvSpPr/>
          <p:nvPr/>
        </p:nvSpPr>
        <p:spPr>
          <a:xfrm>
            <a:off x="8936565" y="4029825"/>
            <a:ext cx="180471" cy="109571"/>
          </a:xfrm>
          <a:prstGeom prst="hexagon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exagon 45"/>
          <p:cNvSpPr/>
          <p:nvPr/>
        </p:nvSpPr>
        <p:spPr>
          <a:xfrm>
            <a:off x="9310398" y="4029825"/>
            <a:ext cx="180471" cy="109571"/>
          </a:xfrm>
          <a:prstGeom prst="hexagon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exagon 46"/>
          <p:cNvSpPr/>
          <p:nvPr/>
        </p:nvSpPr>
        <p:spPr>
          <a:xfrm>
            <a:off x="9684231" y="4029825"/>
            <a:ext cx="180471" cy="109571"/>
          </a:xfrm>
          <a:prstGeom prst="hexagon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exagon 47"/>
          <p:cNvSpPr/>
          <p:nvPr/>
        </p:nvSpPr>
        <p:spPr>
          <a:xfrm>
            <a:off x="10058065" y="4029825"/>
            <a:ext cx="180471" cy="109571"/>
          </a:xfrm>
          <a:prstGeom prst="hexagon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exagon 48"/>
          <p:cNvSpPr/>
          <p:nvPr/>
        </p:nvSpPr>
        <p:spPr>
          <a:xfrm>
            <a:off x="8936565" y="4190960"/>
            <a:ext cx="180471" cy="109571"/>
          </a:xfrm>
          <a:prstGeom prst="hexagon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xagon 49"/>
          <p:cNvSpPr/>
          <p:nvPr/>
        </p:nvSpPr>
        <p:spPr>
          <a:xfrm>
            <a:off x="9310398" y="4190960"/>
            <a:ext cx="180471" cy="109571"/>
          </a:xfrm>
          <a:prstGeom prst="hexagon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Hexagon 50"/>
          <p:cNvSpPr/>
          <p:nvPr/>
        </p:nvSpPr>
        <p:spPr>
          <a:xfrm>
            <a:off x="9684231" y="4190960"/>
            <a:ext cx="180471" cy="109571"/>
          </a:xfrm>
          <a:prstGeom prst="hexagon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exagon 51"/>
          <p:cNvSpPr/>
          <p:nvPr/>
        </p:nvSpPr>
        <p:spPr>
          <a:xfrm>
            <a:off x="10058065" y="4190960"/>
            <a:ext cx="180471" cy="109571"/>
          </a:xfrm>
          <a:prstGeom prst="hexagon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80983" y="4442331"/>
            <a:ext cx="2962655" cy="29169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द्रव : 70% एल्कोहॉल • बड़े प्राणी : stuffed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कीट : insect boxes • उद्देश्य : अध्ययन एवं संदर्भ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Some specimens are preserved in dry form, others in liquid; very large animals are preserved in a stuffed condition.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85 / 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86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17238" y="1842516"/>
            <a:ext cx="1315688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🧪 संरक्षण द्रव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संग्रहालय में नमूनों को द्रव रूप में सुरक्षित रखने के लिए NCERT में कौन-सा उदाहरण दिया गया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70% एल्कोहॉल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D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सांद्र सल्फ्यूरिक अम्ल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आसुत जल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ग्लूकोज विलयन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use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33438" y="3333721"/>
            <a:ext cx="926800" cy="554304"/>
          </a:xfrm>
          <a:prstGeom prst="roundRect">
            <a:avLst>
              <a:gd name="adj" fmla="val 22000"/>
            </a:avLst>
          </a:prstGeom>
          <a:solidFill>
            <a:srgbClr val="EAF7FF"/>
          </a:solidFill>
          <a:ln w="1524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72110" y="3501302"/>
            <a:ext cx="849455" cy="309379"/>
          </a:xfrm>
          <a:prstGeom prst="rect">
            <a:avLst/>
          </a:prstGeom>
          <a:solidFill>
            <a:srgbClr val="9A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97892" y="3275713"/>
            <a:ext cx="797892" cy="83790"/>
          </a:xfrm>
          <a:prstGeom prst="rect">
            <a:avLst/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92465" y="3333721"/>
            <a:ext cx="926800" cy="554304"/>
          </a:xfrm>
          <a:prstGeom prst="roundRect">
            <a:avLst>
              <a:gd name="adj" fmla="val 22000"/>
            </a:avLst>
          </a:prstGeom>
          <a:solidFill>
            <a:srgbClr val="EAF7FF"/>
          </a:solidFill>
          <a:ln w="1524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31138" y="3501302"/>
            <a:ext cx="849455" cy="309379"/>
          </a:xfrm>
          <a:prstGeom prst="rect">
            <a:avLst/>
          </a:prstGeom>
          <a:solidFill>
            <a:srgbClr val="9A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56919" y="3275713"/>
            <a:ext cx="797892" cy="83790"/>
          </a:xfrm>
          <a:prstGeom prst="rect">
            <a:avLst/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751492" y="3333721"/>
            <a:ext cx="926800" cy="554304"/>
          </a:xfrm>
          <a:prstGeom prst="roundRect">
            <a:avLst>
              <a:gd name="adj" fmla="val 22000"/>
            </a:avLst>
          </a:prstGeom>
          <a:solidFill>
            <a:srgbClr val="EAF7FF"/>
          </a:solidFill>
          <a:ln w="1524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90165" y="3501302"/>
            <a:ext cx="849455" cy="309379"/>
          </a:xfrm>
          <a:prstGeom prst="rect">
            <a:avLst/>
          </a:prstGeom>
          <a:solidFill>
            <a:srgbClr val="9A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815946" y="3275713"/>
            <a:ext cx="797892" cy="83790"/>
          </a:xfrm>
          <a:prstGeom prst="rect">
            <a:avLst/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820547" y="3978262"/>
            <a:ext cx="2883526" cy="412505"/>
          </a:xfrm>
          <a:prstGeom prst="roundRect">
            <a:avLst>
              <a:gd name="adj" fmla="val 12000"/>
            </a:avLst>
          </a:prstGeom>
          <a:solidFill>
            <a:srgbClr val="FFF3D6"/>
          </a:solidFill>
          <a:ln w="1524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exagon 44"/>
          <p:cNvSpPr/>
          <p:nvPr/>
        </p:nvSpPr>
        <p:spPr>
          <a:xfrm>
            <a:off x="8936565" y="4029825"/>
            <a:ext cx="180471" cy="109571"/>
          </a:xfrm>
          <a:prstGeom prst="hexagon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exagon 45"/>
          <p:cNvSpPr/>
          <p:nvPr/>
        </p:nvSpPr>
        <p:spPr>
          <a:xfrm>
            <a:off x="9310398" y="4029825"/>
            <a:ext cx="180471" cy="109571"/>
          </a:xfrm>
          <a:prstGeom prst="hexagon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exagon 46"/>
          <p:cNvSpPr/>
          <p:nvPr/>
        </p:nvSpPr>
        <p:spPr>
          <a:xfrm>
            <a:off x="9684231" y="4029825"/>
            <a:ext cx="180471" cy="109571"/>
          </a:xfrm>
          <a:prstGeom prst="hexagon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exagon 47"/>
          <p:cNvSpPr/>
          <p:nvPr/>
        </p:nvSpPr>
        <p:spPr>
          <a:xfrm>
            <a:off x="10058065" y="4029825"/>
            <a:ext cx="180471" cy="109571"/>
          </a:xfrm>
          <a:prstGeom prst="hexagon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exagon 48"/>
          <p:cNvSpPr/>
          <p:nvPr/>
        </p:nvSpPr>
        <p:spPr>
          <a:xfrm>
            <a:off x="8936565" y="4190960"/>
            <a:ext cx="180471" cy="109571"/>
          </a:xfrm>
          <a:prstGeom prst="hexagon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xagon 49"/>
          <p:cNvSpPr/>
          <p:nvPr/>
        </p:nvSpPr>
        <p:spPr>
          <a:xfrm>
            <a:off x="9310398" y="4190960"/>
            <a:ext cx="180471" cy="109571"/>
          </a:xfrm>
          <a:prstGeom prst="hexagon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Hexagon 50"/>
          <p:cNvSpPr/>
          <p:nvPr/>
        </p:nvSpPr>
        <p:spPr>
          <a:xfrm>
            <a:off x="9684231" y="4190960"/>
            <a:ext cx="180471" cy="109571"/>
          </a:xfrm>
          <a:prstGeom prst="hexagon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exagon 51"/>
          <p:cNvSpPr/>
          <p:nvPr/>
        </p:nvSpPr>
        <p:spPr>
          <a:xfrm>
            <a:off x="10058065" y="4190960"/>
            <a:ext cx="180471" cy="109571"/>
          </a:xfrm>
          <a:prstGeom prst="hexagon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80983" y="4442331"/>
            <a:ext cx="2962655" cy="29169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द्रव : 70% एल्कोहॉल • बड़े प्राणी : stuffed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कीट : insect boxes • उद्देश्य : अध्ययन एवं संदर्भ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Some specimens are preserved in liquid, e.g., 70% alcohol.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86 / 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87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3190" y="1842516"/>
            <a:ext cx="1169736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🦋 कीट-बॉक्स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कीटों (insects) के नमूनों के संग्रहण का सही विवरण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D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पानी की बोतल में रखे जाते हैं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संग्रहण → killing → preserving → insect boxes में संग्रह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E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केवल मिट्टी में दबाए जाते हैं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पत्तों पर छोड़ दिए जाते हैं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use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B72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33438" y="3333721"/>
            <a:ext cx="926800" cy="554304"/>
          </a:xfrm>
          <a:prstGeom prst="roundRect">
            <a:avLst>
              <a:gd name="adj" fmla="val 22000"/>
            </a:avLst>
          </a:prstGeom>
          <a:solidFill>
            <a:srgbClr val="EAF7FF"/>
          </a:solidFill>
          <a:ln w="1524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72110" y="3501302"/>
            <a:ext cx="849455" cy="309379"/>
          </a:xfrm>
          <a:prstGeom prst="rect">
            <a:avLst/>
          </a:prstGeom>
          <a:solidFill>
            <a:srgbClr val="9A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97892" y="3275713"/>
            <a:ext cx="797892" cy="8379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92465" y="3333721"/>
            <a:ext cx="926800" cy="554304"/>
          </a:xfrm>
          <a:prstGeom prst="roundRect">
            <a:avLst>
              <a:gd name="adj" fmla="val 22000"/>
            </a:avLst>
          </a:prstGeom>
          <a:solidFill>
            <a:srgbClr val="EAF7FF"/>
          </a:solidFill>
          <a:ln w="1524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31138" y="3501302"/>
            <a:ext cx="849455" cy="309379"/>
          </a:xfrm>
          <a:prstGeom prst="rect">
            <a:avLst/>
          </a:prstGeom>
          <a:solidFill>
            <a:srgbClr val="9A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56919" y="3275713"/>
            <a:ext cx="797892" cy="8379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751492" y="3333721"/>
            <a:ext cx="926800" cy="554304"/>
          </a:xfrm>
          <a:prstGeom prst="roundRect">
            <a:avLst>
              <a:gd name="adj" fmla="val 22000"/>
            </a:avLst>
          </a:prstGeom>
          <a:solidFill>
            <a:srgbClr val="EAF7FF"/>
          </a:solidFill>
          <a:ln w="1524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90165" y="3501302"/>
            <a:ext cx="849455" cy="309379"/>
          </a:xfrm>
          <a:prstGeom prst="rect">
            <a:avLst/>
          </a:prstGeom>
          <a:solidFill>
            <a:srgbClr val="9A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815946" y="3275713"/>
            <a:ext cx="797892" cy="8379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820547" y="3978262"/>
            <a:ext cx="2883526" cy="412505"/>
          </a:xfrm>
          <a:prstGeom prst="roundRect">
            <a:avLst>
              <a:gd name="adj" fmla="val 12000"/>
            </a:avLst>
          </a:prstGeom>
          <a:solidFill>
            <a:srgbClr val="FFF3D6"/>
          </a:solidFill>
          <a:ln w="1524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exagon 44"/>
          <p:cNvSpPr/>
          <p:nvPr/>
        </p:nvSpPr>
        <p:spPr>
          <a:xfrm>
            <a:off x="8936565" y="4029825"/>
            <a:ext cx="180471" cy="109571"/>
          </a:xfrm>
          <a:prstGeom prst="hexagon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exagon 45"/>
          <p:cNvSpPr/>
          <p:nvPr/>
        </p:nvSpPr>
        <p:spPr>
          <a:xfrm>
            <a:off x="9310398" y="4029825"/>
            <a:ext cx="180471" cy="109571"/>
          </a:xfrm>
          <a:prstGeom prst="hexagon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exagon 46"/>
          <p:cNvSpPr/>
          <p:nvPr/>
        </p:nvSpPr>
        <p:spPr>
          <a:xfrm>
            <a:off x="9684231" y="4029825"/>
            <a:ext cx="180471" cy="109571"/>
          </a:xfrm>
          <a:prstGeom prst="hexagon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exagon 47"/>
          <p:cNvSpPr/>
          <p:nvPr/>
        </p:nvSpPr>
        <p:spPr>
          <a:xfrm>
            <a:off x="10058065" y="4029825"/>
            <a:ext cx="180471" cy="109571"/>
          </a:xfrm>
          <a:prstGeom prst="hexagon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exagon 48"/>
          <p:cNvSpPr/>
          <p:nvPr/>
        </p:nvSpPr>
        <p:spPr>
          <a:xfrm>
            <a:off x="8936565" y="4190960"/>
            <a:ext cx="180471" cy="109571"/>
          </a:xfrm>
          <a:prstGeom prst="hexagon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xagon 49"/>
          <p:cNvSpPr/>
          <p:nvPr/>
        </p:nvSpPr>
        <p:spPr>
          <a:xfrm>
            <a:off x="9310398" y="4190960"/>
            <a:ext cx="180471" cy="109571"/>
          </a:xfrm>
          <a:prstGeom prst="hexagon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Hexagon 50"/>
          <p:cNvSpPr/>
          <p:nvPr/>
        </p:nvSpPr>
        <p:spPr>
          <a:xfrm>
            <a:off x="9684231" y="4190960"/>
            <a:ext cx="180471" cy="109571"/>
          </a:xfrm>
          <a:prstGeom prst="hexagon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exagon 51"/>
          <p:cNvSpPr/>
          <p:nvPr/>
        </p:nvSpPr>
        <p:spPr>
          <a:xfrm>
            <a:off x="10058065" y="4190960"/>
            <a:ext cx="180471" cy="109571"/>
          </a:xfrm>
          <a:prstGeom prst="hexagon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80983" y="4442331"/>
            <a:ext cx="2962655" cy="29169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द्रव : 70% एल्कोहॉल • बड़े प्राणी : stuffed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कीट : insect boxes • उद्देश्य : अध्ययन एवं संदर्भ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Insects are collected, killed and preserved and stored in insect boxes.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87 / 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88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4628" y="1842516"/>
            <a:ext cx="868299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🔑 कुंजी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'कुंजी (key)' का सर्वाधिक उपयुक्त वर्णन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वर्णनात्मक (descriptive) ग्रंथ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विश्लेषणात्मक (analytical) स्वरूप की पहचान-सहायक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E1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केवल नामकरण के नियम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केवल जीवाश्मों की पुस्तिका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BA12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662745"/>
            <a:ext cx="2795408" cy="687829"/>
          </a:xfrm>
          <a:prstGeom prst="roundRect">
            <a:avLst>
              <a:gd name="adj" fmla="val 16000"/>
            </a:avLst>
          </a:prstGeom>
          <a:solidFill>
            <a:srgbClr val="D9EEFF"/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18288" bIns="18288"/>
          <a:lstStyle/>
          <a:p>
            <a:pPr algn="l">
              <a:lnSpc>
                <a:spcPct val="100000"/>
              </a:lnSpc>
            </a:pPr>
            <a:r>
              <a:rPr sz="980" b="1" i="0" lang="hi-IN" altLang="en-US">
                <a:solidFill>
                  <a:srgbClr val="9D0208"/>
                </a:solidFill>
                <a:latin typeface="Nirmala UI"/>
                <a:ea typeface="Nirmala UI"/>
                <a:cs typeface="Nirmala UI"/>
              </a:rPr>
              <a:t>1a  </a:t>
            </a:r>
            <a:r>
              <a:rPr sz="98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एक लक्षण का कथन</a:t>
            </a:r>
            <a:br>
              <a:rPr sz="98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</a:br>
            <a:r>
              <a:rPr sz="980" b="1" i="0" lang="hi-IN" altLang="en-US">
                <a:solidFill>
                  <a:srgbClr val="9D0208"/>
                </a:solidFill>
                <a:latin typeface="Nirmala UI"/>
                <a:ea typeface="Nirmala UI"/>
                <a:cs typeface="Nirmala UI"/>
              </a:rPr>
              <a:t>1b  </a:t>
            </a:r>
            <a:r>
              <a:rPr sz="98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विपरीत (opposing) कथन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7559" y="3403484"/>
            <a:ext cx="2889503" cy="19728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युग्मक (couplet) — एक स्वीकार = दूसरा अस्वीकार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064667"/>
            <a:ext cx="1327157" cy="493826"/>
          </a:xfrm>
          <a:prstGeom prst="roundRect">
            <a:avLst>
              <a:gd name="adj" fmla="val 30000"/>
            </a:avLst>
          </a:prstGeom>
          <a:solidFill>
            <a:srgbClr val="E1F8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टैक्सॉन की पहचान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97584" y="3064667"/>
            <a:ext cx="1327157" cy="493826"/>
          </a:xfrm>
          <a:prstGeom prst="roundRect">
            <a:avLst>
              <a:gd name="adj" fmla="val 30000"/>
            </a:avLst>
          </a:prstGeom>
          <a:solidFill>
            <a:srgbClr val="F3DE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अगला युग्मक 2a / 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0983" y="4285316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9D0208"/>
                </a:solidFill>
                <a:latin typeface="Nirmala UI"/>
                <a:ea typeface="Nirmala UI"/>
                <a:cs typeface="Nirmala UI"/>
              </a:rPr>
              <a:t>कुंजी विश्लेषणात्मक — वर्णन नहीं देती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9D0208"/>
                </a:solidFill>
                <a:latin typeface="Nirmala UI"/>
                <a:ea typeface="Nirmala UI"/>
                <a:cs typeface="Nirmala UI"/>
              </a:rPr>
              <a:t>भारत में कुल-कुंजी : Bentham &amp; Hooker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A key is analytical in nature.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88 /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89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89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5758" y="1842516"/>
            <a:ext cx="1427168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🔑 कुंजी का आधार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कुंजी द्वारा किसी जीव की पहचान/नाम-निर्धारण किस पर आधारित होता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आकार एवं रंग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जीवों के बीच समानता एवं विसंगति (similarities and dissimilarities)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केवल आवास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केवल आर्थिक उपयोग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85D0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662745"/>
            <a:ext cx="2795408" cy="687829"/>
          </a:xfrm>
          <a:prstGeom prst="roundRect">
            <a:avLst>
              <a:gd name="adj" fmla="val 16000"/>
            </a:avLst>
          </a:prstGeom>
          <a:solidFill>
            <a:srgbClr val="CDEBFF"/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18288" bIns="18288"/>
          <a:lstStyle/>
          <a:p>
            <a:pPr algn="l">
              <a:lnSpc>
                <a:spcPct val="100000"/>
              </a:lnSpc>
            </a:pPr>
            <a:r>
              <a:rPr sz="98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1a  </a:t>
            </a:r>
            <a:r>
              <a:rPr sz="98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एक लक्षण का कथन</a:t>
            </a:r>
            <a:br>
              <a:rPr sz="98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</a:br>
            <a:r>
              <a:rPr sz="98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1b  </a:t>
            </a:r>
            <a:r>
              <a:rPr sz="98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विपरीत (opposing) कथन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7559" y="3403484"/>
            <a:ext cx="2889503" cy="19728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युग्मक (couplet) — एक स्वीकार = दूसरा अस्वीकार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064667"/>
            <a:ext cx="1327157" cy="493826"/>
          </a:xfrm>
          <a:prstGeom prst="roundRect">
            <a:avLst>
              <a:gd name="adj" fmla="val 30000"/>
            </a:avLst>
          </a:prstGeom>
          <a:solidFill>
            <a:srgbClr val="D6F5D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टैक्सॉन की पहचान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97584" y="3064667"/>
            <a:ext cx="1327157" cy="493826"/>
          </a:xfrm>
          <a:prstGeom prst="roundRect">
            <a:avLst>
              <a:gd name="adj" fmla="val 30000"/>
            </a:avLst>
          </a:prstGeom>
          <a:solidFill>
            <a:srgbClr val="FBD5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अगला युग्मक 2a / 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0983" y="4285316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कुंजी विश्लेषणात्मक — वर्णन नहीं देती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DC2F02"/>
                </a:solidFill>
                <a:latin typeface="Nirmala UI"/>
                <a:ea typeface="Nirmala UI"/>
                <a:cs typeface="Nirmala UI"/>
              </a:rPr>
              <a:t>भारत में कुल-कुंजी : Bentham &amp; Hooker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The identification or determination of the name of an organism is based on similarities and dissimilarities.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89 /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90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7548" y="1842516"/>
            <a:ext cx="975379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🔑 Couplet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कुंजी (key) में दो विपरीत (opposing) कथनों के जोड़े को क्या कहा जाता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Couplet (युग्मक)</a:t>
            </a:r>
          </a:p>
        </p:txBody>
      </p:sp>
      <p:sp>
        <p:nvSpPr>
          <p:cNvPr id="22" name="Oval 21"/>
          <p:cNvSpPr/>
          <p:nvPr/>
        </p:nvSpPr>
        <p:spPr>
          <a:xfrm>
            <a:off x="7967167" y="3306572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Diagnosis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Flora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Index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353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662745"/>
            <a:ext cx="2795408" cy="687829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18288" bIns="18288"/>
          <a:lstStyle/>
          <a:p>
            <a:pPr algn="l">
              <a:lnSpc>
                <a:spcPct val="100000"/>
              </a:lnSpc>
            </a:pPr>
            <a:r>
              <a:rPr sz="980" b="1" i="0" lang="hi-IN" altLang="en-US">
                <a:solidFill>
                  <a:srgbClr val="0466C8"/>
                </a:solidFill>
                <a:latin typeface="Nirmala UI"/>
                <a:ea typeface="Nirmala UI"/>
                <a:cs typeface="Nirmala UI"/>
              </a:rPr>
              <a:t>1a  </a:t>
            </a:r>
            <a:r>
              <a:rPr sz="98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एक लक्षण का कथन</a:t>
            </a:r>
            <a:br>
              <a:rPr sz="98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</a:br>
            <a:r>
              <a:rPr sz="980" b="1" i="0" lang="hi-IN" altLang="en-US">
                <a:solidFill>
                  <a:srgbClr val="0466C8"/>
                </a:solidFill>
                <a:latin typeface="Nirmala UI"/>
                <a:ea typeface="Nirmala UI"/>
                <a:cs typeface="Nirmala UI"/>
              </a:rPr>
              <a:t>1b  </a:t>
            </a:r>
            <a:r>
              <a:rPr sz="98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विपरीत (opposing) कथन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7559" y="3403484"/>
            <a:ext cx="2889503" cy="19728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युग्मक (couplet) — एक स्वीकार = दूसरा अस्वीकार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064667"/>
            <a:ext cx="1327157" cy="493826"/>
          </a:xfrm>
          <a:prstGeom prst="roundRect">
            <a:avLst>
              <a:gd name="adj" fmla="val 30000"/>
            </a:avLst>
          </a:prstGeom>
          <a:solidFill>
            <a:srgbClr val="D8F8E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टैक्सॉन की पहचान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97584" y="3064667"/>
            <a:ext cx="1327157" cy="493826"/>
          </a:xfrm>
          <a:prstGeom prst="roundRect">
            <a:avLst>
              <a:gd name="adj" fmla="val 30000"/>
            </a:avLst>
          </a:prstGeom>
          <a:solidFill>
            <a:srgbClr val="FBD3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अगला युग्मक 2a / 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0983" y="4285316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0466C8"/>
                </a:solidFill>
                <a:latin typeface="Nirmala UI"/>
                <a:ea typeface="Nirmala UI"/>
                <a:cs typeface="Nirmala UI"/>
              </a:rPr>
              <a:t>कुंजी विश्लेषणात्मक — वर्णन नहीं देती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0466C8"/>
                </a:solidFill>
                <a:latin typeface="Nirmala UI"/>
                <a:ea typeface="Nirmala UI"/>
                <a:cs typeface="Nirmala UI"/>
              </a:rPr>
              <a:t>भारत में कुल-कुंजी : Bentham &amp; Hooker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In each couplet, two opposing statements are used to identify a taxon; every couplet refers to two taxa.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90 /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91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1809" y="1842516"/>
            <a:ext cx="1551117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🔑 कुंजी का स्वरूप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कुंजी के बारे में सही कथन चुनिए—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D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कुंजी लक्षणों का पूर्ण वर्णन प्रदान करती है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F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एक ही कुंजी से सभी वर्गीकोटियाँ पहचानी जा सकती हैं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एक युग्मक में एक विकल्प चुनने का अर्थ है दूसरा विकल्प अस्वीकार करना</a:t>
            </a:r>
          </a:p>
        </p:txBody>
      </p:sp>
      <p:sp>
        <p:nvSpPr>
          <p:cNvPr id="28" name="Oval 27"/>
          <p:cNvSpPr/>
          <p:nvPr/>
        </p:nvSpPr>
        <p:spPr>
          <a:xfrm>
            <a:off x="7967167" y="456237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कुंजी केवल जंतुओं के लिए बनाई जाती 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1B7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662745"/>
            <a:ext cx="2795408" cy="687829"/>
          </a:xfrm>
          <a:prstGeom prst="roundRect">
            <a:avLst>
              <a:gd name="adj" fmla="val 16000"/>
            </a:avLst>
          </a:prstGeom>
          <a:solidFill>
            <a:srgbClr val="FFF0BF"/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18288" bIns="18288"/>
          <a:lstStyle/>
          <a:p>
            <a:pPr algn="l">
              <a:lnSpc>
                <a:spcPct val="100000"/>
              </a:lnSpc>
            </a:pPr>
            <a:r>
              <a:rPr sz="980" b="1" i="0" lang="hi-IN" altLang="en-US">
                <a:solidFill>
                  <a:srgbClr val="10694E"/>
                </a:solidFill>
                <a:latin typeface="Nirmala UI"/>
                <a:ea typeface="Nirmala UI"/>
                <a:cs typeface="Nirmala UI"/>
              </a:rPr>
              <a:t>1a  </a:t>
            </a:r>
            <a:r>
              <a:rPr sz="98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एक लक्षण का कथन</a:t>
            </a:r>
            <a:br>
              <a:rPr sz="98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</a:br>
            <a:r>
              <a:rPr sz="980" b="1" i="0" lang="hi-IN" altLang="en-US">
                <a:solidFill>
                  <a:srgbClr val="10694E"/>
                </a:solidFill>
                <a:latin typeface="Nirmala UI"/>
                <a:ea typeface="Nirmala UI"/>
                <a:cs typeface="Nirmala UI"/>
              </a:rPr>
              <a:t>1b  </a:t>
            </a:r>
            <a:r>
              <a:rPr sz="98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विपरीत (opposing) कथन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7559" y="3403484"/>
            <a:ext cx="2889503" cy="19728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युग्मक (couplet) — एक स्वीकार = दूसरा अस्वीकार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064667"/>
            <a:ext cx="1327157" cy="493826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टैक्सॉन की पहचान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97584" y="3064667"/>
            <a:ext cx="1327157" cy="493826"/>
          </a:xfrm>
          <a:prstGeom prst="roundRect">
            <a:avLst>
              <a:gd name="adj" fmla="val 30000"/>
            </a:avLst>
          </a:prstGeom>
          <a:solidFill>
            <a:srgbClr val="F9D5E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अगला युग्मक 2a / 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0983" y="4285316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10694E"/>
                </a:solidFill>
                <a:latin typeface="Nirmala UI"/>
                <a:ea typeface="Nirmala UI"/>
                <a:cs typeface="Nirmala UI"/>
              </a:rPr>
              <a:t>कुंजी विश्लेषणात्मक — वर्णन नहीं देती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10694E"/>
                </a:solidFill>
                <a:latin typeface="Nirmala UI"/>
                <a:ea typeface="Nirmala UI"/>
                <a:cs typeface="Nirmala UI"/>
              </a:rPr>
              <a:t>भारत में कुल-कुंजी : Bentham &amp; Hooker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While selecting one option from a couplet means rejecting the other choice; separate keys are needed for different categories.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91 /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92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914" y="1842516"/>
            <a:ext cx="1246012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🔑 B&amp;H पद्धति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भारत में पुष्पीय पादपों के कुलों के निर्धारण के लिए प्रयुक्त कुंजी किस वर्गीकरण पद्धति का अनुसरण करती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हचिसन की पद्धति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बेंथम एवं हुकर (Bentham &amp; Hooker) की पद्धति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एंगलर एवं प्रांटल की पद्धति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लिनियस की यौन पद्धति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C918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4606" y="2662745"/>
            <a:ext cx="2795408" cy="687829"/>
          </a:xfrm>
          <a:prstGeom prst="roundRect">
            <a:avLst>
              <a:gd name="adj" fmla="val 16000"/>
            </a:avLst>
          </a:prstGeom>
          <a:solidFill>
            <a:srgbClr val="FFF3C0"/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18288" bIns="18288"/>
          <a:lstStyle/>
          <a:p>
            <a:pPr algn="l">
              <a:lnSpc>
                <a:spcPct val="100000"/>
              </a:lnSpc>
            </a:pPr>
            <a:r>
              <a:rPr sz="980" b="1" i="0" lang="hi-IN" altLang="en-US">
                <a:solidFill>
                  <a:srgbClr val="A4133C"/>
                </a:solidFill>
                <a:latin typeface="Nirmala UI"/>
                <a:ea typeface="Nirmala UI"/>
                <a:cs typeface="Nirmala UI"/>
              </a:rPr>
              <a:t>1a  </a:t>
            </a:r>
            <a:r>
              <a:rPr sz="98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एक लक्षण का कथन</a:t>
            </a:r>
            <a:br>
              <a:rPr sz="98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</a:br>
            <a:r>
              <a:rPr sz="980" b="1" i="0" lang="hi-IN" altLang="en-US">
                <a:solidFill>
                  <a:srgbClr val="A4133C"/>
                </a:solidFill>
                <a:latin typeface="Nirmala UI"/>
                <a:ea typeface="Nirmala UI"/>
                <a:cs typeface="Nirmala UI"/>
              </a:rPr>
              <a:t>1b  </a:t>
            </a:r>
            <a:r>
              <a:rPr sz="98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विपरीत (opposing) कथन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7559" y="3403484"/>
            <a:ext cx="2889503" cy="19728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युग्मक (couplet) — एक स्वीकार = दूसरा अस्वीकार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4606" y="3064667"/>
            <a:ext cx="1327157" cy="493826"/>
          </a:xfrm>
          <a:prstGeom prst="roundRect">
            <a:avLst>
              <a:gd name="adj" fmla="val 30000"/>
            </a:avLst>
          </a:prstGeom>
          <a:solidFill>
            <a:srgbClr val="D7F0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टैक्सॉन की पहचान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97584" y="3064667"/>
            <a:ext cx="1327157" cy="493826"/>
          </a:xfrm>
          <a:prstGeom prst="roundRect">
            <a:avLst>
              <a:gd name="adj" fmla="val 30000"/>
            </a:avLst>
          </a:prstGeom>
          <a:solidFill>
            <a:srgbClr val="E3D7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अगला युग्मक 2a / 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0983" y="4285316"/>
            <a:ext cx="2962655" cy="346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A4133C"/>
                </a:solidFill>
                <a:latin typeface="Nirmala UI"/>
                <a:ea typeface="Nirmala UI"/>
                <a:cs typeface="Nirmala UI"/>
              </a:rPr>
              <a:t>कुंजी विश्लेषणात्मक — वर्णन नहीं देती</a:t>
            </a:r>
          </a:p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A4133C"/>
                </a:solidFill>
                <a:latin typeface="Nirmala UI"/>
                <a:ea typeface="Nirmala UI"/>
                <a:cs typeface="Nirmala UI"/>
              </a:rPr>
              <a:t>भारत में कुल-कुंजी : Bentham &amp; Hooker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NCERT: keys leading to determination of families of angiosperms, in common use in India, follow Bentham &amp; Hooker's system.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92 /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6F3FF"/>
              </a:gs>
              <a:gs pos="57999">
                <a:srgbClr val="E0D8FF"/>
              </a:gs>
              <a:gs pos="100000">
                <a:srgbClr val="F6F3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7B2CB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7B2CB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7B2CB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5A189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5A18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93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A189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73429" y="1842516"/>
            <a:ext cx="859497" cy="329184"/>
          </a:xfrm>
          <a:prstGeom prst="roundRect">
            <a:avLst>
              <a:gd name="adj" fmla="val 50000"/>
            </a:avLst>
          </a:prstGeom>
          <a:solidFill>
            <a:srgbClr val="FFE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🌺 Flora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किसी निर्दिष्ट क्षेत्र के पादपों का वंशवार, कुलवार तथा आवास-क्षेत्रवार सूची-वर्णन कहलाता है—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E9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Manual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Flora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4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Key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5A1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Index Herbariorum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5A18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46970" y="1988832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E9D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हर्बेरियम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शुष्क-पीसे पत्रक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635821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FE6B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वनस्पति उद्यान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जीवित पादप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6970" y="3282811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D4F5EA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संग्रहालय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संरक्षित नमूने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6970" y="3929800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FD9E2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कुंजी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विश्लेषणात्मक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46970" y="4576789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E9D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241344"/>
                </a:solidFill>
                <a:latin typeface="Nirmala UI"/>
                <a:ea typeface="Nirmala UI"/>
                <a:cs typeface="Nirmala UI"/>
              </a:rPr>
              <a:t>साहित्य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Flora • Manual • Monograph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0983" y="5241415"/>
            <a:ext cx="2962655" cy="20048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वर्गीकरण-अध्ययन को सुगम बनाने वाले साधन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Flora: the genus-wise, family-wise and habitat &amp; region wise listing of plants of a specified area.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5A189A"/>
              </a:gs>
              <a:gs pos="100000">
                <a:srgbClr val="7B2CBF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93 /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BEA"/>
              </a:gs>
              <a:gs pos="57999">
                <a:srgbClr val="FFEFC2"/>
              </a:gs>
              <a:gs pos="100000">
                <a:srgbClr val="FFFBEA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BC6C25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BC6C2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BC6C25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9A67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9A67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94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9A67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BC6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0086" y="1842516"/>
            <a:ext cx="932840" cy="329184"/>
          </a:xfrm>
          <a:prstGeom prst="roundRect">
            <a:avLst>
              <a:gd name="adj" fmla="val 50000"/>
            </a:avLst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📘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आर्थिक रूप से महत्वपूर्ण पादपों के नामों की पहचान के लिए किस साहित्य का प्रयोग होता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Monograph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Manual (मैनुअल)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E7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Flora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FD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Periodical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46970" y="1988832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FF1B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हर्बेरियम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शुष्क-पीसे पत्रक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635821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D3EFFB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वनस्पति उद्यान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जीवित पादप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6970" y="3282811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E7DF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संग्रहालय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संरक्षित नमूने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6970" y="3929800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FDCC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कुंजी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विश्लेषणात्मक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46970" y="4576789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FF1B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3D2C00"/>
                </a:solidFill>
                <a:latin typeface="Nirmala UI"/>
                <a:ea typeface="Nirmala UI"/>
                <a:cs typeface="Nirmala UI"/>
              </a:rPr>
              <a:t>साहित्य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Flora • Manual • Monograph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0983" y="5241415"/>
            <a:ext cx="2962655" cy="20048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वर्गीकरण-अध्ययन को सुगम बनाने वाले साधन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Manuals specifically contain data for the identification of names of economically important plants.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9A6700"/>
              </a:gs>
              <a:gs pos="100000">
                <a:srgbClr val="BC6C25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94 /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9A67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7999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95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48818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7285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488186"/>
          </a:xfrm>
          <a:prstGeom prst="rect">
            <a:avLst/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9255" y="1842516"/>
            <a:ext cx="1183671" cy="329184"/>
          </a:xfrm>
          <a:prstGeom prst="roundRect">
            <a:avLst>
              <a:gd name="adj" fmla="val 50000"/>
            </a:avLst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📕 Monograph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101269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9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किसी एक वर्गीकोटि (जैसे एक कुल या एक गोत्र) का समग्र विवरण — वर्णन, वितरण, रचना-विज्ञान, भ्रूणविज्ञान, उपयोग, आर्थिक महत्व — कहां मिलता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390138"/>
            <a:ext cx="8204911" cy="55264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474434"/>
            <a:ext cx="384048" cy="384048"/>
          </a:xfrm>
          <a:prstGeom prst="ellipse">
            <a:avLst/>
          </a:prstGeom>
          <a:solidFill>
            <a:srgbClr val="D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417570"/>
            <a:ext cx="6815023" cy="497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Flora में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020502"/>
            <a:ext cx="8204911" cy="552640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4104798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47934"/>
            <a:ext cx="6815023" cy="497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Monograph (एकात्मिका) में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4150518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650867"/>
            <a:ext cx="8204911" cy="55264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735163"/>
            <a:ext cx="384048" cy="384048"/>
          </a:xfrm>
          <a:prstGeom prst="ellipse">
            <a:avLst/>
          </a:prstGeom>
          <a:solidFill>
            <a:srgbClr val="DE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678299"/>
            <a:ext cx="6815023" cy="497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Index Herbariorum में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81231"/>
            <a:ext cx="8204911" cy="55264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65527"/>
            <a:ext cx="384048" cy="384048"/>
          </a:xfrm>
          <a:prstGeom prst="ellipse">
            <a:avLst/>
          </a:prstGeom>
          <a:solidFill>
            <a:srgbClr val="F5D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308663"/>
            <a:ext cx="6815023" cy="497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Manual में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B72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46970" y="1988832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D2F4FB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हर्बेरियम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शुष्क-पीसे पत्रक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635821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FE9B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वनस्पति उद्यान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जीवित पादप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6970" y="3282811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DEFFD9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संग्रहालय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संरक्षित नमूने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6970" y="3929800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5D6F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कुंजी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विश्लेषणात्मक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46970" y="4576789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D2F4FB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साहित्य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Flora • Manual • Monograph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0983" y="5241415"/>
            <a:ext cx="2962655" cy="20048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वर्गीकरण-अध्ययन को सुगम बनाने वाले साधन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Monograph covers information on any one taxonomic category with complete detail and reference literature.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95 /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1EC"/>
              </a:gs>
              <a:gs pos="57999">
                <a:srgbClr val="FFD9C7"/>
              </a:gs>
              <a:gs pos="100000">
                <a:srgbClr val="FFF1EC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9D020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9D020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9D020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BA1200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BA12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96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11643055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BA1200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BA1200"/>
              </a:gs>
              <a:gs pos="100000">
                <a:srgbClr val="9D020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9D0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0518" y="1842516"/>
            <a:ext cx="1830552" cy="329184"/>
          </a:xfrm>
          <a:prstGeom prst="roundRect">
            <a:avLst>
              <a:gd name="adj" fmla="val 50000"/>
            </a:avLst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🗃️ Index Herbariorum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11076127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'Index Herbariorum' प्रकाशन किसके संबंध में सूचना देता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पादप रोगों की सूची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विश्व के हर्बेरियम — उनका स्थान, संग्रह की वृद्धि एवं विशेषज्ञता</a:t>
            </a:r>
          </a:p>
        </p:txBody>
      </p:sp>
      <p:sp>
        <p:nvSpPr>
          <p:cNvPr id="25" name="Oval 24"/>
          <p:cNvSpPr/>
          <p:nvPr/>
        </p:nvSpPr>
        <p:spPr>
          <a:xfrm>
            <a:off x="11405311" y="3786346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59529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E1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386961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कीटों का वर्गीकरण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35562"/>
            <a:ext cx="11643055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A1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F3D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62994"/>
            <a:ext cx="10253167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3D0800"/>
                </a:solidFill>
                <a:latin typeface="Nirmala UI"/>
                <a:ea typeface="Nirmala UI"/>
                <a:cs typeface="Nirmala UI"/>
              </a:rPr>
              <a:t>वनस्पति उद्यानों का मानचित्र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943600"/>
            <a:ext cx="11643055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3631" y="5980176"/>
            <a:ext cx="9887712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It deals with information about the herbaria of the world, their location, status of collections and specialisation.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BA1200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6E5"/>
              </a:gs>
              <a:gs pos="57999">
                <a:srgbClr val="FFE3B8"/>
              </a:gs>
              <a:gs pos="100000">
                <a:srgbClr val="FFF6E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DC2F02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DC2F02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DC2F02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E85D0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E85D0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97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85D0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DC2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5249" y="1842516"/>
            <a:ext cx="1227677" cy="329184"/>
          </a:xfrm>
          <a:prstGeom prst="roundRect">
            <a:avLst>
              <a:gd name="adj" fmla="val 50000"/>
            </a:avLst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🚫 सहायक नहीं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निम्न में से कौन वर्गीकीय सहायक (taxonomical aid) नहीं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FFE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हर्बेरियम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CD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कुंजी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85D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6F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वनस्पति उद्यान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प्रकाश-संश्लेषण</a:t>
            </a:r>
          </a:p>
        </p:txBody>
      </p:sp>
      <p:sp>
        <p:nvSpPr>
          <p:cNvPr id="31" name="Oval 30"/>
          <p:cNvSpPr/>
          <p:nvPr/>
        </p:nvSpPr>
        <p:spPr>
          <a:xfrm>
            <a:off x="7967167" y="5338413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85D0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46970" y="1988832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FE8A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हर्बेरियम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शुष्क-पीसे पत्रक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635821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CDEB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वनस्पति उद्यान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जीवित पादप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6970" y="3282811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D6F5D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संग्रहालय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संरक्षित नमूने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6970" y="3929800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BD5E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कुंजी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विश्लेषणात्मक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46970" y="4576789"/>
            <a:ext cx="2830681" cy="511462"/>
          </a:xfrm>
          <a:prstGeom prst="roundRect">
            <a:avLst>
              <a:gd name="adj" fmla="val 30000"/>
            </a:avLst>
          </a:prstGeom>
          <a:solidFill>
            <a:srgbClr val="FFE8A3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080" b="1" i="0" lang="hi-IN" altLang="en-US">
                <a:solidFill>
                  <a:srgbClr val="2B2118"/>
                </a:solidFill>
                <a:latin typeface="Nirmala UI"/>
                <a:ea typeface="Nirmala UI"/>
                <a:cs typeface="Nirmala UI"/>
              </a:rPr>
              <a:t>साहित्य</a:t>
            </a:r>
            <a:r>
              <a:rPr sz="83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   Flora • Manual • Monograph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0983" y="5241415"/>
            <a:ext cx="2962655" cy="20048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वर्गीकरण-अध्ययन को सुगम बनाने वाले साधन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प्रकाश-श्लेषण एक शारीरिक (physiological) क्रिया है, वर्गीकीय सहायक नहीं।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E85D04"/>
              </a:gs>
              <a:gs pos="100000">
                <a:srgbClr val="DC2F02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97 /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E85D0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AF6FF"/>
              </a:gs>
              <a:gs pos="57999">
                <a:srgbClr val="CBE9FF"/>
              </a:gs>
              <a:gs pos="100000">
                <a:srgbClr val="EAF6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466C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466C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466C8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353A4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353A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98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353A4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046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5349" y="1842516"/>
            <a:ext cx="1497577" cy="329184"/>
          </a:xfrm>
          <a:prstGeom prst="roundRect">
            <a:avLst>
              <a:gd name="adj" fmla="val 50000"/>
            </a:avLst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🔎 क्षेत्र-अध्ययन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जंगली घास के अज्ञात नमूने की सही पहचान हेतु छात्र को सर्वप्रथम किसका उपयोग करना चाहिए?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D7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खाद का विश्लेषण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हर्बेरियम के संग्रह एवं वर्गीकीय कुंजी का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8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जल-आपूर्ति का रिकॉर्ड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FB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तापमापी यंत्र का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51" y="1865376"/>
            <a:ext cx="1188720" cy="1188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652967" y="3145536"/>
            <a:ext cx="3218687" cy="264261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0353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20547" y="3269267"/>
            <a:ext cx="2883526" cy="1224626"/>
          </a:xfrm>
          <a:prstGeom prst="rect">
            <a:avLst/>
          </a:prstGeom>
          <a:solidFill>
            <a:srgbClr val="FFFDF5"/>
          </a:solidFill>
          <a:ln w="2032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53287" y="3359503"/>
            <a:ext cx="45720" cy="708994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 rot="20640000">
            <a:off x="9888477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 rot="960000">
            <a:off x="10429891" y="3411066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 rot="20640000">
            <a:off x="9888477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 rot="960000">
            <a:off x="10429891" y="357864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 rot="20640000">
            <a:off x="9888477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 rot="960000">
            <a:off x="10429891" y="3746227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 rot="20640000">
            <a:off x="9888477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 rot="960000">
            <a:off x="10429891" y="3913808"/>
            <a:ext cx="206252" cy="83790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91411" y="3249931"/>
            <a:ext cx="141798" cy="116017"/>
          </a:xfrm>
          <a:prstGeom prst="ellipse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39691" y="3488411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39691" y="3823572"/>
            <a:ext cx="2445239" cy="45720"/>
          </a:xfrm>
          <a:prstGeom prst="rect">
            <a:avLst/>
          </a:prstGeom>
          <a:solidFill>
            <a:srgbClr val="D9CBA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10783" y="4171624"/>
            <a:ext cx="2703055" cy="28359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35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49455" y="4197406"/>
            <a:ext cx="2625710" cy="29169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Family • Genus • Species |</a:t>
            </a:r>
          </a:p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102A43"/>
                </a:solidFill>
                <a:latin typeface="Nirmala UI"/>
                <a:ea typeface="Nirmala UI"/>
                <a:cs typeface="Nirmala UI"/>
              </a:rPr>
              <a:t>स्थानीय नाम, उपयोगी भाग, तिथि, आवास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0983" y="4545457"/>
            <a:ext cx="2962655" cy="17327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शीट ≈ 41 × 29 से.मी. — मान्य वर्गीकरण पद्धति के अनुसार रैक में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Herbarium provides quick referral and keys are analytical tools for identification.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353A4"/>
              </a:gs>
              <a:gs pos="100000">
                <a:srgbClr val="0466C8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98 / 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0353A4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7999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99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90551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7F5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905510"/>
          </a:xfrm>
          <a:prstGeom prst="rect">
            <a:avLst/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06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99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3035" y="1842516"/>
            <a:ext cx="1339891" cy="329184"/>
          </a:xfrm>
          <a:prstGeom prst="roundRect">
            <a:avLst>
              <a:gd name="adj" fmla="val 50000"/>
            </a:avLst>
          </a:prstGeom>
          <a:solidFill>
            <a:srgbClr val="F9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⚠️ युग्म-मिलान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4300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निम्न में से असंगत (गलत) युग्म कौन-सा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8074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2964592"/>
            <a:ext cx="384048" cy="384048"/>
          </a:xfrm>
          <a:prstGeom prst="ellipse">
            <a:avLst/>
          </a:prstGeom>
          <a:solidFill>
            <a:srgbClr val="DDF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34893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Mangifera – Anacardiaceae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83495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740626"/>
            <a:ext cx="384048" cy="384048"/>
          </a:xfrm>
          <a:prstGeom prst="ellipse">
            <a:avLst/>
          </a:prstGeom>
          <a:solidFill>
            <a:srgbClr val="FFF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10927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Triticum – Poaceae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359529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" y="4516659"/>
            <a:ext cx="384048" cy="384048"/>
          </a:xfrm>
          <a:prstGeom prst="ellipse">
            <a:avLst/>
          </a:prstGeom>
          <a:solidFill>
            <a:srgbClr val="D9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386961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Musca – Muscidae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135562"/>
            <a:ext cx="8204911" cy="698309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3192" y="5292693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162994"/>
            <a:ext cx="6815023" cy="64344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7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Felis – Canidae</a:t>
            </a:r>
          </a:p>
        </p:txBody>
      </p:sp>
      <p:sp>
        <p:nvSpPr>
          <p:cNvPr id="31" name="Oval 30"/>
          <p:cNvSpPr/>
          <p:nvPr/>
        </p:nvSpPr>
        <p:spPr>
          <a:xfrm>
            <a:off x="7967167" y="5338413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1B7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29333" y="1988832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कुल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5010" y="1988832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Hominidae / Poaceae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9333" y="2597021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FF0B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क्रम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5010" y="2597021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Primata / Poales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9333" y="3205209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9EE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वर्ग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5010" y="3205209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Mammalia / Monocot.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29333" y="3813398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F9D5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संघ / Division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5010" y="3813398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Chordata / Angiospermae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9333" y="4421587"/>
            <a:ext cx="1060403" cy="440916"/>
          </a:xfrm>
          <a:prstGeom prst="roundRect">
            <a:avLst>
              <a:gd name="adj" fmla="val 30000"/>
            </a:avLst>
          </a:prstGeom>
          <a:solidFill>
            <a:srgbClr val="DDF7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69" b="1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जाति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5010" y="4421587"/>
            <a:ext cx="1719573" cy="4409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85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sapiens / aestivum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0983" y="5056231"/>
            <a:ext cx="2962655" cy="33969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10694E"/>
                </a:solidFill>
                <a:latin typeface="Nirmala UI"/>
                <a:ea typeface="Nirmala UI"/>
                <a:cs typeface="Nirmala UI"/>
              </a:rPr>
              <a:t>मनुष्य : Homo sapiens  •  गेहूँ : Triticum aestivum</a:t>
            </a:r>
          </a:p>
          <a:p>
            <a:pPr algn="ctr">
              <a:lnSpc>
                <a:spcPct val="100000"/>
              </a:lnSpc>
            </a:pPr>
            <a:r>
              <a:rPr sz="890" b="1" i="0" lang="hi-IN" altLang="en-US">
                <a:solidFill>
                  <a:srgbClr val="10694E"/>
                </a:solidFill>
                <a:latin typeface="Nirmala UI"/>
                <a:ea typeface="Nirmala UI"/>
                <a:cs typeface="Nirmala UI"/>
              </a:rPr>
              <a:t>(Table 1.1 के अनुसार)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Felis (बिल्ली) कुल Felidae से संबद्ध है; Canidae कुत्ते (Canis) का कुल है।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99 / 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FF0F5"/>
              </a:gs>
              <a:gs pos="57999">
                <a:srgbClr val="FBD3E4"/>
              </a:gs>
              <a:gs pos="100000">
                <a:srgbClr val="FFF0F5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A413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A4133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A4133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C9184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C9184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82880"/>
            <a:ext cx="11643055" cy="932688"/>
          </a:xfrm>
          <a:prstGeom prst="roundRect">
            <a:avLst>
              <a:gd name="adj" fmla="val 22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920000" scaled="1"/>
          </a:gradFill>
          <a:ln>
            <a:noFill/>
          </a:ln>
          <a:effectLst>
            <a:outerShdw blurRad="82296" dist="32004" dir="5400000" rotWithShape="0">
              <a:srgbClr val="141432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73152" bIns="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6716"/>
            <a:ext cx="11643055" cy="50292"/>
          </a:xfrm>
          <a:prstGeom prst="rect">
            <a:avLst/>
          </a:prstGeom>
          <a:gradFill gradRotateWithShape="1">
            <a:gsLst>
              <a:gs pos="0">
                <a:srgbClr val="FFD166"/>
              </a:gs>
              <a:gs pos="34000">
                <a:srgbClr val="06D6A0"/>
              </a:gs>
              <a:gs pos="68000">
                <a:srgbClr val="118AB2"/>
              </a:gs>
              <a:gs pos="100000">
                <a:srgbClr val="EF476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1280160"/>
            <a:ext cx="1164305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286000" tIns="0" bIns="0"/>
          <a:lstStyle/>
          <a:p>
            <a:pPr algn="l">
              <a:lnSpc>
                <a:spcPct val="100000"/>
              </a:lnSpc>
            </a:pPr>
            <a:r>
              <a:rPr sz="13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अध्याय 1 : जैव जगत  (The Living World)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     |     जैव विज्ञान • कक्षा 11 (इंटरमीडिएट) • BSEB वस्तुनिष्ठ अभ्यास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8575" y="1307592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प्रश्न 100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73936"/>
            <a:ext cx="8204911" cy="12440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C9184A"/>
            </a:solidFill>
          </a:ln>
          <a:effectLst>
            <a:outerShdw blurRad="64008" dist="25603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91440" cy="1244092"/>
          </a:xfrm>
          <a:prstGeom prst="rect">
            <a:avLst/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" y="1842516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प्र.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5533" y="1842516"/>
            <a:ext cx="1627393" cy="329184"/>
          </a:xfrm>
          <a:prstGeom prst="roundRect">
            <a:avLst>
              <a:gd name="adj" fmla="val 50000"/>
            </a:avLst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/>
          <a:lstStyle/>
          <a:p>
            <a:pPr algn="ctr">
              <a:lnSpc>
                <a:spcPct val="100000"/>
              </a:lnSpc>
            </a:pPr>
            <a:r>
              <a:rPr sz="1100" b="1" i="0" lang="hi-IN" altLang="en-US">
                <a:solidFill>
                  <a:srgbClr val="10233F"/>
                </a:solidFill>
                <a:latin typeface="Nirmala UI"/>
                <a:ea typeface="Nirmala UI"/>
                <a:cs typeface="Nirmala UI"/>
              </a:rPr>
              <a:t>🧪 आधुनिक वर्गीकरण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203703"/>
            <a:ext cx="7637983" cy="76860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1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NCERT के अनुसार आधुनिक वर्गीकरण-अध्ययनों (taxonomy) का आधार क्या है?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46044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260852"/>
            <a:ext cx="384048" cy="384048"/>
          </a:xfrm>
          <a:prstGeom prst="ellipse">
            <a:avLst/>
          </a:prstGeom>
          <a:solidFill>
            <a:srgbClr val="FFD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173476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केवल बाह्य रंग एवं आकार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37431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C7F5D6"/>
          </a:solidFill>
          <a:ln w="26670">
            <a:solidFill>
              <a:srgbClr val="0F8A3E"/>
            </a:solidFill>
          </a:ln>
          <a:effectLst>
            <a:outerShdw blurRad="50292" dist="20116" dir="5400000" rotWithShape="0">
              <a:srgbClr val="141432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3952239"/>
            <a:ext cx="384048" cy="384048"/>
          </a:xfrm>
          <a:prstGeom prst="ellipse">
            <a:avLst/>
          </a:prstGeom>
          <a:solidFill>
            <a:srgbClr val="0F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64864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1" i="0" lang="hi-IN" altLang="en-US">
                <a:solidFill>
                  <a:srgbClr val="0B5A2A"/>
                </a:solidFill>
                <a:latin typeface="Nirmala UI"/>
                <a:ea typeface="Nirmala UI"/>
                <a:cs typeface="Nirmala UI"/>
              </a:rPr>
              <a:t>बाह्य-आंतरिक संरचना, कोशिका की संरचना, विकास-प्रक्रिया एवं पारिस्थितिक सूचना</a:t>
            </a:r>
          </a:p>
        </p:txBody>
      </p:sp>
      <p:sp>
        <p:nvSpPr>
          <p:cNvPr id="25" name="Oval 24"/>
          <p:cNvSpPr/>
          <p:nvPr/>
        </p:nvSpPr>
        <p:spPr>
          <a:xfrm>
            <a:off x="7967167" y="3997959"/>
            <a:ext cx="365760" cy="2926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28820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3192" y="4643628"/>
            <a:ext cx="384048" cy="384048"/>
          </a:xfrm>
          <a:prstGeom prst="ellipse">
            <a:avLst/>
          </a:prstGeom>
          <a:solidFill>
            <a:srgbClr val="D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556252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केवल बीज का आकार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220208"/>
            <a:ext cx="8204911" cy="613664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1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" y="5335016"/>
            <a:ext cx="384048" cy="384048"/>
          </a:xfrm>
          <a:prstGeom prst="ellipse">
            <a:avLst/>
          </a:prstGeom>
          <a:solidFill>
            <a:srgbClr val="E3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247640"/>
            <a:ext cx="6815023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50" b="0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केवल आर्थिक उपयोग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7247" y="1773936"/>
            <a:ext cx="3310127" cy="4059935"/>
          </a:xfrm>
          <a:prstGeom prst="roundRect">
            <a:avLst>
              <a:gd name="adj" fmla="val 6000"/>
            </a:avLst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2967" y="1865376"/>
            <a:ext cx="3218687" cy="3922775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C918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46970" y="198883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FFDDE7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वृद्धि (growth)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6970" y="272702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FFF3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प्रजनन (reproduction)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6970" y="346521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D7F0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चयापचय (metabolism)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46970" y="4203402"/>
            <a:ext cx="2830681" cy="493826"/>
          </a:xfrm>
          <a:prstGeom prst="roundRect">
            <a:avLst>
              <a:gd name="adj" fmla="val 30000"/>
            </a:avLst>
          </a:prstGeom>
          <a:solidFill>
            <a:srgbClr val="E3D7F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</a:pPr>
            <a:r>
              <a:rPr sz="116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✓  </a:t>
            </a:r>
            <a:r>
              <a:rPr sz="1100" b="1" i="0" lang="hi-IN" altLang="en-US">
                <a:solidFill>
                  <a:srgbClr val="4A1226"/>
                </a:solidFill>
                <a:latin typeface="Nirmala UI"/>
                <a:ea typeface="Nirmala UI"/>
                <a:cs typeface="Nirmala UI"/>
              </a:rPr>
              <a:t>चेतना (consciousness)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0983" y="4959229"/>
            <a:ext cx="2962655" cy="3525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कोई एक लक्षण अकेला 'जीव' को परिभाषित नहीं करता —</a:t>
            </a:r>
          </a:p>
          <a:p>
            <a:pPr algn="ctr">
              <a:lnSpc>
                <a:spcPct val="100000"/>
              </a:lnSpc>
            </a:pPr>
            <a:r>
              <a:rPr sz="93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सभी लक्षण सामूहिक रूप से जीवन दर्शाते हैं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943600"/>
            <a:ext cx="8204911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0F8A3E"/>
              </a:gs>
              <a:gs pos="100000">
                <a:srgbClr val="05B45F"/>
              </a:gs>
            </a:gsLst>
            <a:lin ang="1080000" scaled="1"/>
          </a:gradFill>
          <a:ln>
            <a:noFill/>
          </a:ln>
          <a:effectLst>
            <a:outerShdw blurRad="45720" dist="18288" dir="5400000" rotWithShape="0">
              <a:srgbClr val="14143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3" y="5980176"/>
            <a:ext cx="1316431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✅  उत्तर : (B)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631" y="5980176"/>
            <a:ext cx="6449567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lang="hi-IN" altLang="en-US">
                <a:solidFill>
                  <a:srgbClr val="E9FFF2"/>
                </a:solidFill>
                <a:latin typeface="Nirmala UI"/>
                <a:ea typeface="Nirmala UI"/>
                <a:cs typeface="Nirmala UI"/>
              </a:rPr>
              <a:t>External and internal structure, cell structure, development process and ecological information form the basis of modern taxonomic studies.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07247" y="5943600"/>
            <a:ext cx="3310127" cy="566928"/>
          </a:xfrm>
          <a:prstGeom prst="roundRect">
            <a:avLst>
              <a:gd name="adj" fmla="val 26000"/>
            </a:avLst>
          </a:prstGeom>
          <a:gradFill gradRotateWithShape="1">
            <a:gsLst>
              <a:gs pos="0">
                <a:srgbClr val="C9184A"/>
              </a:gs>
              <a:gs pos="100000">
                <a:srgbClr val="A4133C"/>
              </a:gs>
            </a:gsLst>
            <a:lin ang="1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100 /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28816"/>
            <a:ext cx="11643055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lang="hi-IN" altLang="en-US">
                <a:solidFill>
                  <a:srgbClr val="C9184A"/>
                </a:solidFill>
                <a:latin typeface="Nirmala UI"/>
                <a:ea typeface="Nirmala UI"/>
                <a:cs typeface="Nirmala UI"/>
              </a:rPr>
              <a:t>DREAM CLASSES KOTHWARA  •  BY – DREAM SIR</a:t>
            </a:r>
            <a:r>
              <a:rPr sz="900" b="0" i="0" lang="hi-IN" altLang="en-US">
                <a:solidFill>
                  <a:srgbClr val="55647E"/>
                </a:solidFill>
                <a:latin typeface="Nirmala UI"/>
                <a:ea typeface="Nirmala UI"/>
                <a:cs typeface="Nirmala UI"/>
              </a:rPr>
              <a:t>      जैव विज्ञान • अध्याय 1 जैव जगत • 100 वस्तुनिष्ठ प्रश्न (BSEB कक्षा 11)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F1FFF2"/>
              </a:gs>
              <a:gs pos="50000">
                <a:srgbClr val="D2F5D8"/>
              </a:gs>
              <a:gs pos="100000">
                <a:srgbClr val="F1FFF2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10694E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10694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10694E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1B7F5A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1B7F5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01168"/>
            <a:ext cx="11643055" cy="859536"/>
          </a:xfrm>
          <a:prstGeom prst="roundRect">
            <a:avLst>
              <a:gd name="adj" fmla="val 24000"/>
            </a:avLst>
          </a:prstGeom>
          <a:gradFill gradRotateWithShape="1">
            <a:gsLst>
              <a:gs pos="0">
                <a:srgbClr val="1B7F5A"/>
              </a:gs>
              <a:gs pos="100000">
                <a:srgbClr val="10694E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bIns="0"/>
          <a:lstStyle/>
          <a:p>
            <a:pPr algn="ctr">
              <a:lnSpc>
                <a:spcPct val="100000"/>
              </a:lnSpc>
            </a:pPr>
            <a:r>
              <a:rPr sz="22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2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      |      उत्तर-कुंजी (Answer Key) — भाग 1 : प्रश्न 1 –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207008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पर्वत एवं चट्टान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21219" y="1207008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चेतना – पर्यावरण क…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8118" y="1207008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क्योंकि प्रत्येक लक्ष…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017" y="1207008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केवल मनुष्य में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1916" y="1207008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जीवन भर कोशिका-विभ…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689811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केवल एक निश्चित आयु…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21219" y="1689811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वृद्धि और प्रजनन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8118" y="1689811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प्रजनन की (कोशिका-स…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017" y="1689811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सतह पर पदार्थ का जम…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1916" y="1689811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10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क्योंकि खच्चर (mule)…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17261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11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वे न जीवित न अजीवि…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21219" y="217261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12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शरीर में होने वाली…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68118" y="217261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13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शरीर का कोशिकीय सं…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017" y="217261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14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पादप एवं जंतु दोनों…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61916" y="217261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15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प्रतिकूल परिस्थि…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65541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16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वृद्धि एवं चयापचय…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21219" y="265541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17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द्रव्यमान (mass) मे…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68118" y="265541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18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चेतना के आधार पर 'ज…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017" y="265541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19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prokaryotes से लेक…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1916" y="265541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20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अंतःक्रियाओं से उभ…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313822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21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1.7 – 1.8 मिलियन (ल…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21219" y="313822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22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पृथ्वी पर विद्यमा…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68118" y="313822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23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नामकरण (nomenclat…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017" y="313822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24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पहचान (identification)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1916" y="313822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25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ICBN (Internationa…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362102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26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ICZN (International…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21219" y="362102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27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कैरोलस लिनियस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68118" y="362102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28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गोत्र, जाति-विशेष…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017" y="362102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29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गोत्र Capital letter…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61916" y="362102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30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ITALICS (तिरछे)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10382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31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गोत्र एवं जाति-विश…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21219" y="410382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32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लेखक का संक्षिप्त…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68118" y="410382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33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लैटिन (अथवा लैटिनी…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017" y="410382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34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जीवों के 'उपयोग' के…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61916" y="410382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35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systema — जीवों का…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458663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36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सुलभ/दृश्य लक्षणों…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21219" y="458663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37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taxis (विन्यास) + m…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68118" y="458663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38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कैरोलस लिनियस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017" y="458663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39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विश्व के किसी भी…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61916" y="458663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40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जाति (species)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069433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41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मूलभूत समानताएँ र…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21219" y="5069433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42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सभी कोटियाँ मिलकर…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68118" y="5069433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43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टैक्सन (taxon)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017" y="5069433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44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जाति → गोत्र → कुल…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61916" y="5069433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45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Phylum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5552236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46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संबंधित गोत्रों क…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21219" y="5552236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47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Solanum, Petunia…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68118" y="5552236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48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ये एक ही गोत्र Sola…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017" y="5552236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49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ये एक ही गोत्र Pa…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61916" y="5552236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1B7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50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12352A"/>
                </a:solidFill>
                <a:latin typeface="Nirmala UI"/>
                <a:ea typeface="Nirmala UI"/>
                <a:cs typeface="Nirmala UI"/>
              </a:rPr>
              <a:t>Felidae एवं Canidae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6089904"/>
            <a:ext cx="11643055" cy="548640"/>
          </a:xfrm>
          <a:prstGeom prst="rect">
            <a:avLst/>
          </a:prstGeom>
          <a:noFill/>
          <a:effectLst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lang="hi-IN" altLang="en-US">
                <a:solidFill>
                  <a:srgbClr val="1B7F5A"/>
                </a:solidFill>
                <a:latin typeface="Nirmala UI"/>
                <a:ea typeface="Nirmala UI"/>
                <a:cs typeface="Nirmala UI"/>
              </a:rPr>
              <a:t>टिप्पणी : 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प्रश्न-स्लाइड पर हर उत्तर के साथ संक्षिप्त कारण भी दिया गया है; यह केवल त्वरित जाँच हेतु कुंजी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E9FBFF"/>
              </a:gs>
              <a:gs pos="50000">
                <a:srgbClr val="C7F0FA"/>
              </a:gs>
              <a:gs pos="100000">
                <a:srgbClr val="E9FBFF"/>
              </a:gs>
            </a:gsLst>
            <a:lin ang="70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44200" y="-777240"/>
            <a:ext cx="2926080" cy="2926080"/>
          </a:xfrm>
          <a:prstGeom prst="ellipse">
            <a:avLst/>
          </a:prstGeom>
          <a:solidFill>
            <a:srgbClr val="087F8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60120" y="4709160"/>
            <a:ext cx="3200400" cy="3200400"/>
          </a:xfrm>
          <a:prstGeom prst="ellipse">
            <a:avLst/>
          </a:prstGeom>
          <a:solidFill>
            <a:srgbClr val="087F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532120"/>
            <a:ext cx="1965960" cy="1965960"/>
          </a:xfrm>
          <a:prstGeom prst="ellipse">
            <a:avLst/>
          </a:prstGeom>
          <a:solidFill>
            <a:srgbClr val="087F8C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755648"/>
            <a:ext cx="109728" cy="109728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0" y="1755648"/>
            <a:ext cx="109728" cy="109728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053328"/>
            <a:ext cx="91440" cy="91440"/>
          </a:xfrm>
          <a:prstGeom prst="ellipse">
            <a:avLst/>
          </a:prstGeom>
          <a:solidFill>
            <a:srgbClr val="0B7285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22608" y="6053328"/>
            <a:ext cx="91440" cy="91440"/>
          </a:xfrm>
          <a:prstGeom prst="ellipse">
            <a:avLst/>
          </a:prstGeom>
          <a:solidFill>
            <a:srgbClr val="0B728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01168"/>
            <a:ext cx="11643055" cy="859536"/>
          </a:xfrm>
          <a:prstGeom prst="roundRect">
            <a:avLst>
              <a:gd name="adj" fmla="val 24000"/>
            </a:avLst>
          </a:prstGeom>
          <a:gradFill gradRotateWithShape="1">
            <a:gsLst>
              <a:gs pos="0">
                <a:srgbClr val="0B7285"/>
              </a:gs>
              <a:gs pos="100000">
                <a:srgbClr val="087F8C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bIns="0"/>
          <a:lstStyle/>
          <a:p>
            <a:pPr algn="ctr">
              <a:lnSpc>
                <a:spcPct val="100000"/>
              </a:lnSpc>
            </a:pPr>
            <a:r>
              <a:rPr sz="22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25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BY – DREAM SIR      |      उत्तर-कुंजी (Answer Key) — भाग 2 : प्रश्न 51 –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207008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51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संबंधित कुलों का स…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21219" y="1207008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52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Polymoniales — पु…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8118" y="1207008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53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Primata एवं Carni…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017" y="1207008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54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नोटोकॉर्ड एवं पृष्…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1916" y="1207008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55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साझा लक्षणों की संख…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689811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56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(D)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जाति (species) के हों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21219" y="1689811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57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Primata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8118" y="1689811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58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Diptera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017" y="1689811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59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Poaceae (Gramineae)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1916" y="1689811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60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Anacardiaceae, Sap…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17261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61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जगत (Kingdom)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21219" y="217261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62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प्रत्येक गोत्र में…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68118" y="217261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63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तीन जोड़े जोड़-यु…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017" y="217261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64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ये आदिम/पूर्वज लक…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61916" y="217261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65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पादप जगत एवं जंतु…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65541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66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आर.एच. विटकर ने, 1…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21219" y="265541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67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Monera, Protista, F…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68118" y="265541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68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(D)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विषाणु (Virus) का…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017" y="265541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69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(D)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शरीर का रंग एवं स…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1916" y="265541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70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कार्ल वूज (Carl Wo…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313822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71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(D)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Fungi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21219" y="313822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72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केवल कुछ सुलभ बाह्…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68118" y="313822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73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पुंकेसर एवं मादा-क…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017" y="313822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74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प्राकृतिक अनेक सह…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1916" y="313822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75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हर्बेरियम, वनस्पति…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362102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76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संग्रहित पादप-नमू…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21219" y="362102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77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सर्व स्वीकृत (univ…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68118" y="362102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78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(D)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शीट बनाने वाले व्…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017" y="362102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79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संग्रहण → प्रेस में…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61916" y="3621024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80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41 × 29 से.मी.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10382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81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जीवित पादप — प्रत्…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21219" y="410382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82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स्थापना 1759; संग…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68118" y="410382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83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1787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017" y="410382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84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क्यू (Kew), इंग्लैंड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61916" y="4103827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85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भरे-पूरे (stuffed)…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458663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86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70% एल्कोहॉल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21219" y="458663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87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संग्रहण → killing →…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68118" y="458663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88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विश्लेषणात्मक (ana…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017" y="458663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89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जीवों के बीच समान…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61916" y="4586630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90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(A)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Couplet (युग्मक)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069433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91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(C)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एक युग्मक में एक वि…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21219" y="5069433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92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बेंथम एवं हुकर (B…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68118" y="5069433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93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Flora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017" y="5069433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94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Manual (मैनुअल)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61916" y="5069433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95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Monograph (एकात्मि…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5552236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96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विश्व के हर्बेरियम…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21219" y="5552236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97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(D)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प्रकाश-संश्लेषण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68118" y="5552236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98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हर्बेरियम के संग्…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017" y="5552236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99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(D)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Felis – Canidae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61916" y="5552236"/>
            <a:ext cx="2255459" cy="437083"/>
          </a:xfrm>
          <a:prstGeom prst="roundRect">
            <a:avLst>
              <a:gd name="adj" fmla="val 22000"/>
            </a:avLst>
          </a:prstGeom>
          <a:solidFill>
            <a:srgbClr val="FFFFFF">
              <a:alpha val="86000"/>
            </a:srgbClr>
          </a:solidFill>
          <a:ln w="1143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 tIns="0" bIns="0"/>
          <a:lstStyle/>
          <a:p>
            <a:pPr algn="l">
              <a:lnSpc>
                <a:spcPct val="90000"/>
              </a:lnSpc>
            </a:pPr>
            <a:r>
              <a:rPr sz="1000" b="1" i="0" lang="hi-IN" altLang="en-US">
                <a:solidFill>
                  <a:srgbClr val="4A5A73"/>
                </a:solidFill>
                <a:latin typeface="Nirmala UI"/>
                <a:ea typeface="Nirmala UI"/>
                <a:cs typeface="Nirmala UI"/>
              </a:rPr>
              <a:t>प्र 100</a:t>
            </a:r>
            <a:r>
              <a:rPr sz="1000" b="0" i="0" lang="hi-IN" altLang="en-US">
                <a:solidFill>
                  <a:srgbClr val="9AA7BB"/>
                </a:solidFill>
                <a:latin typeface="Nirmala UI"/>
                <a:ea typeface="Nirmala UI"/>
                <a:cs typeface="Nirmala UI"/>
              </a:rPr>
              <a:t>  →  </a:t>
            </a:r>
            <a:r>
              <a:rPr sz="1250" b="1" i="0" lang="hi-IN" altLang="en-US">
                <a:solidFill>
                  <a:srgbClr val="0F8A3E"/>
                </a:solidFill>
                <a:latin typeface="Nirmala UI"/>
                <a:ea typeface="Nirmala UI"/>
                <a:cs typeface="Nirmala UI"/>
              </a:rPr>
              <a:t>(B) </a:t>
            </a:r>
            <a:r>
              <a:rPr sz="940" b="0" i="0" lang="hi-IN" altLang="en-US">
                <a:solidFill>
                  <a:srgbClr val="073B4C"/>
                </a:solidFill>
                <a:latin typeface="Nirmala UI"/>
                <a:ea typeface="Nirmala UI"/>
                <a:cs typeface="Nirmala UI"/>
              </a:rPr>
              <a:t>बाह्य-आंतरिक संरच…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6089904"/>
            <a:ext cx="11643055" cy="548640"/>
          </a:xfrm>
          <a:prstGeom prst="rect">
            <a:avLst/>
          </a:prstGeom>
          <a:noFill/>
          <a:effectLst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lang="hi-IN" altLang="en-US">
                <a:solidFill>
                  <a:srgbClr val="0B7285"/>
                </a:solidFill>
                <a:latin typeface="Nirmala UI"/>
                <a:ea typeface="Nirmala UI"/>
                <a:cs typeface="Nirmala UI"/>
              </a:rPr>
              <a:t>टिप्पणी : </a:t>
            </a:r>
            <a:r>
              <a:rPr sz="1100" b="0" i="0" lang="hi-IN" altLang="en-US">
                <a:solidFill>
                  <a:srgbClr val="3B4A63"/>
                </a:solidFill>
                <a:latin typeface="Nirmala UI"/>
                <a:ea typeface="Nirmala UI"/>
                <a:cs typeface="Nirmala UI"/>
              </a:rPr>
              <a:t>प्रश्न-स्लाइड पर हर उत्तर के साथ संक्षिप्त कारण भी दिया गया है; यह केवल त्वरित जाँच हेतु कुंजी है।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gradRotateWithShape="1">
            <a:gsLst>
              <a:gs pos="0">
                <a:srgbClr val="5A189A"/>
              </a:gs>
              <a:gs pos="55000">
                <a:srgbClr val="7B2CBF"/>
              </a:gs>
              <a:gs pos="100000">
                <a:srgbClr val="14233C"/>
              </a:gs>
            </a:gsLst>
            <a:lin ang="732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-868680"/>
            <a:ext cx="3383280" cy="338328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51560" y="4206240"/>
            <a:ext cx="3566160" cy="3566160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49240" y="4983480"/>
            <a:ext cx="2468880" cy="246888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545775" cy="1554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अभ्यास जारी रखिए!</a:t>
            </a:r>
            <a:br>
              <a:rPr sz="43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</a:br>
            <a:r>
              <a:rPr sz="1900" b="1" i="0" lang="hi-IN" altLang="en-US">
                <a:solidFill>
                  <a:srgbClr val="FFE79A"/>
                </a:solidFill>
                <a:latin typeface="Nirmala UI"/>
                <a:ea typeface="Nirmala UI"/>
                <a:cs typeface="Nirmala UI"/>
              </a:rPr>
              <a:t>100 प्रश्न पूरे — अब उत्तर-कुंजी से self-check कीजिए।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127248"/>
            <a:ext cx="6888175" cy="1755648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91440" dist="45720" dir="5400000" rotWithShape="0">
              <a:srgbClr val="14143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00000"/>
              </a:lnSpc>
            </a:pPr>
            <a:r>
              <a:rPr sz="27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  <a:t>DREAM CLASSES KOTHWARA</a:t>
            </a:r>
            <a:br>
              <a:rPr sz="2700" b="1" i="0" lang="hi-IN" altLang="en-US">
                <a:solidFill>
                  <a:srgbClr val="5A189A"/>
                </a:solidFill>
                <a:latin typeface="Nirmala UI"/>
                <a:ea typeface="Nirmala UI"/>
                <a:cs typeface="Nirmala UI"/>
              </a:rPr>
            </a:br>
            <a:r>
              <a:rPr sz="1700" b="1" i="0" lang="hi-IN" altLang="en-US">
                <a:solidFill>
                  <a:srgbClr val="D62828"/>
                </a:solidFill>
                <a:latin typeface="Nirmala UI"/>
                <a:ea typeface="Nirmala UI"/>
                <a:cs typeface="Nirmala UI"/>
              </a:rPr>
              <a:t>BY – DREAM SIR</a:t>
            </a:r>
            <a:br>
              <a:rPr sz="1700" b="1" i="0" lang="hi-IN" altLang="en-US">
                <a:solidFill>
                  <a:srgbClr val="D62828"/>
                </a:solidFill>
                <a:latin typeface="Nirmala UI"/>
                <a:ea typeface="Nirmala UI"/>
                <a:cs typeface="Nirmala UI"/>
              </a:rPr>
            </a:br>
            <a:r>
              <a:rPr sz="1300" b="0" i="0" lang="hi-IN" altLang="en-US">
                <a:solidFill>
                  <a:srgbClr val="43536B"/>
                </a:solidFill>
                <a:latin typeface="Nirmala UI"/>
                <a:ea typeface="Nirmala UI"/>
                <a:cs typeface="Nirmala UI"/>
              </a:rPr>
              <a:t>जैव विज्ञान • अध्याय 1 जैव जगत • BSEB वस्तुनिष्ठ श्रृंखला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30368"/>
            <a:ext cx="10545775" cy="8229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lang="hi-IN" altLang="en-US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अगला सेट : अध्याय 2 — जैविक वर्गीकरण (Biological Classification) • 100 वस्तुनिष्ठ प्रश्न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जैव जगत (The Living World) — 100 वस्तुनिष्ठ प्रश्न | DREAM CLASSES KOTHWARA</dc:title>
  <dc:subject>जैव विज्ञान अध्याय 1 • BSEB कक्षा 11 • वस्तुनिष्ठ</dc:subject>
  <dc:creator>DREAM CLASSES KOTHWARA (By – Dream Sir)</dc:creator>
  <cp:keywords>BSEB, Class 11, Biology, The Living World, Objective, Hindi, DREAM CLASSES KOTHWARA</cp:keywords>
  <dc:description>100 objective questions, one per slide, with 4 options in Hindi, answer + reason, colourful design and small diagrams. Facts as per NCERT Class 11 Ch-1.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