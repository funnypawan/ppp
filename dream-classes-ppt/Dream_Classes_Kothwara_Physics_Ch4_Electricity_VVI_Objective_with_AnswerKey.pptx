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4x3"/>
  <p:notesSz cx="6858000" cy="9144000"/>
  <p:embeddedFontLst>
    <p:embeddedFont>
      <p:font typeface="Noto Sans Devanagari" pitchFamily="34" charset="0"/>
      <p:regular r:id="rId46"/>
      <p:bold r:id="rId47"/>
    </p:embeddedFont>
    <p:embeddedFont>
      <p:font typeface="Poppins" pitchFamily="34" charset="0"/>
      <p:regular r:id="rId48"/>
      <p:bold r:id="rId49"/>
    </p:embeddedFont>
    <p:embeddedFont>
      <p:font typeface="Noto Sans" pitchFamily="34" charset="0"/>
      <p:regular r:id="rId50"/>
      <p:bold r:id="rId51"/>
    </p:embeddedFont>
    <p:embeddedFont>
      <p:font typeface="Noto Sans Math" pitchFamily="34" charset="0"/>
      <p:regular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font" Target="fonts/font1.fntdata"/><Relationship Id="rId47" Type="http://schemas.openxmlformats.org/officeDocument/2006/relationships/font" Target="fonts/font2.fntdata"/><Relationship Id="rId48" Type="http://schemas.openxmlformats.org/officeDocument/2006/relationships/font" Target="fonts/font3.fntdata"/><Relationship Id="rId49" Type="http://schemas.openxmlformats.org/officeDocument/2006/relationships/font" Target="fonts/font4.fntdata"/><Relationship Id="rId50" Type="http://schemas.openxmlformats.org/officeDocument/2006/relationships/font" Target="fonts/font5.fntdata"/><Relationship Id="rId51" Type="http://schemas.openxmlformats.org/officeDocument/2006/relationships/font" Target="fonts/font6.fntdata"/><Relationship Id="rId52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571500" y="165100"/>
            <a:ext cx="11049000" cy="12700"/>
          </a:xfrm>
          <a:prstGeom prst="rect">
            <a:avLst/>
          </a:prstGeom>
          <a:solidFill>
            <a:srgbClr val="F7C84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533400"/>
            <a:ext cx="12192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2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0" y="1079500"/>
            <a:ext cx="2667000" cy="19050"/>
          </a:xfrm>
          <a:prstGeom prst="rect">
            <a:avLst/>
          </a:prstGeom>
          <a:solidFill>
            <a:srgbClr val="F7C84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257300"/>
            <a:ext cx="12192000" cy="162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00"/>
              </a:lnSpc>
              <a:spcBef>
                <a:spcPts val="0"/>
              </a:spcBef>
              <a:spcAft>
                <a:spcPts val="0"/>
              </a:spcAft>
            </a:pPr>
            <a:r>
              <a:rPr sz="9000" b="1" spc="16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489200"/>
            <a:ext cx="121920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5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भौतिक विज्ञान  (</a:t>
            </a:r>
            <a:r>
              <a:rPr sz="3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Physics)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3175000"/>
            <a:ext cx="10287000" cy="660400"/>
          </a:xfrm>
          <a:prstGeom prst="roundRect">
            <a:avLst>
              <a:gd name="adj" fmla="val 34615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003300" y="3225800"/>
            <a:ext cx="10185400" cy="558800"/>
          </a:xfrm>
          <a:prstGeom prst="roundRect">
            <a:avLst>
              <a:gd name="adj" fmla="val 29545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3175000"/>
            <a:ext cx="110490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16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987800"/>
            <a:ext cx="12192000" cy="463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 Devanagari"/>
                <a:ea typeface="Noto Sans Devanagari"/>
                <a:cs typeface="Noto Sans Devanagari"/>
              </a:rPr>
              <a:t>अध्याय – 04   |   </a:t>
            </a:r>
            <a:r>
              <a:rPr sz="2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CHAPTER –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470400"/>
            <a:ext cx="12192000" cy="692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   (</a:t>
            </a:r>
            <a:r>
              <a:rPr sz="4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ELECTRICITY)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0" y="5321300"/>
            <a:ext cx="9144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0" y="5435600"/>
            <a:ext cx="12192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8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By :  Dream 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69000"/>
            <a:ext cx="12192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80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Mob :  +91 97089 83294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571500" y="165100"/>
            <a:ext cx="11049000" cy="12700"/>
          </a:xfrm>
          <a:prstGeom prst="rect">
            <a:avLst/>
          </a:prstGeom>
          <a:solidFill>
            <a:srgbClr val="F7C84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939800"/>
            <a:ext cx="12192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60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CHAPTER –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0" y="1549400"/>
            <a:ext cx="2032000" cy="19050"/>
          </a:xfrm>
          <a:prstGeom prst="rect">
            <a:avLst/>
          </a:prstGeom>
          <a:solidFill>
            <a:srgbClr val="F7C84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841500"/>
            <a:ext cx="12192000" cy="142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75000"/>
            <a:ext cx="121920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200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(ELECTRICITY)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7500" y="3810000"/>
            <a:ext cx="9017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638300" y="3860800"/>
            <a:ext cx="8915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3810000"/>
            <a:ext cx="11049000" cy="665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16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46600"/>
            <a:ext cx="12192000" cy="463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AB6AA"/>
                </a:solidFill>
                <a:latin typeface="Noto Sans Devanagari"/>
                <a:ea typeface="Noto Sans Devanagari"/>
                <a:cs typeface="Noto Sans Devanagari"/>
              </a:rPr>
              <a:t>भौतिक विज्ञान  (</a:t>
            </a:r>
            <a:r>
              <a:rPr sz="2600" b="1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PHYSICS)   •   10वीं कक्षा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016500"/>
            <a:ext cx="121920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कुल 32 महत्वपूर्ण वस्तुनिष्ठ प्रश्न   (32 </a:t>
            </a:r>
            <a:r>
              <a:rPr sz="22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Objective Questions)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6500" y="5613400"/>
            <a:ext cx="723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0" y="5727700"/>
            <a:ext cx="12192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200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61100"/>
            <a:ext cx="121920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By :  Dream Sir        •        Mob :  +91 97089 83294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1172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1172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कूलॉम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7115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7115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कूलॉम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8157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8157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0349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0349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ऐम्पियर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वाट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9526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9526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ऊर्जा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वाट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किलोवाट-घंटा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91295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91295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नियम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सही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रूप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कौन-सा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I/R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R/I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I²R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6023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6023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यदि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सिरों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बीच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आधा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दिया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जाए,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उसमें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प्रवाहित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प्रभाव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पड़ेगा?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दुगुनी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जाएगी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अपरिवर्तित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रहेगी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शून्य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जाएगी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आधी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जाएगी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9466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9466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उसकी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लंबाई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व्युत्क्रमानुपाती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वर्ग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लंबाई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निर्भर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करता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98454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98454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उसके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अनुप्रस्थ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काट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क्षेत्रफल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वर्ग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अनुक्रमानुपाती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क्षेत्रफल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निर्भर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करता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व्युत्क्रमानुपाती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1045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1045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विशिष्ट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(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प्रतिरोधकता)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SI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ओम/मीटर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ओम-मीटर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ओम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मीटर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2631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2631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सबसे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ताँबा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एल्युमिनियम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लोहा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चाँदी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8575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8575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ताप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बढ़ने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धात्विक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बढ़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घट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अपरिवर्तित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रहता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शून्य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9616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9616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ताप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बढ़ने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अर्धचालक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(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जैसे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सिलिकॉन)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बढ़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घट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अपरिवर्तित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रहता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अनंत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हो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है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1809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1809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जुड़े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तुल्य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व्युत्क्रमों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योग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सबसे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छोटे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योग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सबसे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बड़े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0986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0986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जुड़े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कौन-सी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राशि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रहती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शक्ति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05892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05892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जुड़े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कौन-सी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राशि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रहती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74837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74837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तुल्य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20/3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15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0926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0926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Ω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प्रतिरोधों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जोड़ने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तुल्य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20/3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15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99145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99145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शक्ति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सूत्र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V/I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V²I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VI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I/V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988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988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ऊर्जा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व्यापारिक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मात्रक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किलोवाट-घंटा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वाट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वोल्ट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8575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8575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किलोवाट-घंटा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बराबर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3.6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×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10³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1000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3.6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×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10⁶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3.6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×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10⁵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4518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4518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जूल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ऊष्मीय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प्रभाव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अनुसार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उत्पन्न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ऊष्मा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सूत्र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I²Rt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I²R/t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H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=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IR²t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5560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5560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V,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</a:t>
            </a:r>
            <a:r>
              <a:rPr sz="3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बल्ब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220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2.2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484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100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7752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7752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बल्ब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तंतु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(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फिलामेंट)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धातु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बना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ताँबा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नाइक्रोम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एल्युमिनियम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टंगस्टन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9293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9293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इस्तरी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हीटर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कुंडली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बनाने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प्रायः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उपयोग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किया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ताँबा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चाँदी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नाइक्रोम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एल्युमिनियम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5324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5324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फ्यूज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तार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लिए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उपयुक्त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पदार्थ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विशेषता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निम्न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निम्न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निम्न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गलनांक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तथा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उच्च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प्रतिरोधकता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3426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3426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ऐमीटर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परिपथ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इनमें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कोई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68698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68698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वोल्टमीटर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परिपथ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जोड़ा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जाता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श्रेणीक्रम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इनमें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कोई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समांतर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क्रम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58577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58577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ऋण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इलेक्ट्रॉनों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धन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प्रवाह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चुंबकीय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बल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रेखाओं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दिशा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80306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80306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किसी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चालक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सेकंड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38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कूलॉम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आवेश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प्रवाहित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है,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तो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मान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होगा-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0.5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20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2</a:t>
            </a:r>
            <a:r>
              <a:rPr sz="22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2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096169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096169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परिपथ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में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बनाए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रखने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के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लिए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आवश्यक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8354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9211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9211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विभवांतर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44640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5497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5497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प्रतिरोध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09270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517842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517842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ऊष्मा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721350"/>
            <a:ext cx="11049000" cy="539750"/>
          </a:xfrm>
          <a:prstGeom prst="roundRect">
            <a:avLst>
              <a:gd name="adj" fmla="val 3294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807075"/>
            <a:ext cx="7112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807075"/>
            <a:ext cx="9956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चुंबकीय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2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क्षेत्र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VVI OBJECTIVE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854200"/>
            <a:ext cx="1155601" cy="439420"/>
          </a:xfrm>
          <a:prstGeom prst="roundRect">
            <a:avLst>
              <a:gd name="adj" fmla="val 50000"/>
            </a:avLst>
          </a:prstGeom>
          <a:solidFill>
            <a:srgbClr val="B70C1E">
              <a:alpha val="92000"/>
            </a:srgbClr>
          </a:solidFill>
          <a:ln w="12700">
            <a:solidFill>
              <a:srgbClr val="F7C846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1854200"/>
            <a:ext cx="1155601" cy="452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Q.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407920"/>
            <a:ext cx="11049000" cy="679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बैटरी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प्राप्त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होने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वाली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विद्युत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होती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38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है-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32004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4700" y="33305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4300" y="33305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प्रत्यावर्ती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(AC)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39878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700" y="41179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4300" y="41179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AC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कभी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DC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7752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700" y="49053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4300" y="49053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इनमें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से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कोई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नहीं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5562600"/>
            <a:ext cx="11049000" cy="698500"/>
          </a:xfrm>
          <a:prstGeom prst="roundRect">
            <a:avLst>
              <a:gd name="adj" fmla="val 2545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7C846">
                <a:alpha val="5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4700" y="5692775"/>
            <a:ext cx="711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4300" y="5692775"/>
            <a:ext cx="99568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दिष्ट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धारा</a:t>
            </a:r>
            <a:r>
              <a:rPr sz="2600" b="1">
                <a:solidFill>
                  <a:srgbClr val="F5F7F0"/>
                </a:solidFill>
                <a:latin typeface="Noto Sans Devanagari"/>
                <a:ea typeface="Noto Sans Devanagari"/>
                <a:cs typeface="Noto Sans Devanagari"/>
              </a:rPr>
              <a:t> </a:t>
            </a:r>
            <a:r>
              <a:rPr sz="2600" b="1">
                <a:solidFill>
                  <a:srgbClr val="F5F7F0"/>
                </a:solidFill>
                <a:latin typeface="Noto Sans"/>
                <a:ea typeface="Noto Sans"/>
                <a:cs typeface="Noto Sans"/>
              </a:rPr>
              <a:t>(DC)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उत्तर कुंजी   |   </a:t>
            </a: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ANSWER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66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19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45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988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2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611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64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90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233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87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66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19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45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988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42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68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611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64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090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233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87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66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19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45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4988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142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68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611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64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090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233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387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366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519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845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4988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142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68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2611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64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090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233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387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उत्तर कुंजी   |   </a:t>
            </a: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ANSWER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66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19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45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988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2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611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64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90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233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87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66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19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45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988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42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68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611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64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090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233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87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66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19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45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4988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142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68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611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64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090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233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387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366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519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845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4988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142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68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2611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64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090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233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387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उत्तर कुंजी   |   </a:t>
            </a: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ANSWER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66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19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45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988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2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611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64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90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233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87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66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19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45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988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42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68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611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64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090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233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87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66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19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45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4988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142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68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611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64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090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233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387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366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519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845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4988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142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68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2611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64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090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233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387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571500" y="190500"/>
            <a:ext cx="76200" cy="482600"/>
          </a:xfrm>
          <a:prstGeom prst="roundRect">
            <a:avLst>
              <a:gd name="adj" fmla="val 50000"/>
            </a:avLst>
          </a:prstGeom>
          <a:solidFill>
            <a:srgbClr val="D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52400"/>
            <a:ext cx="6350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8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2300"/>
            <a:ext cx="7620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E28C"/>
                </a:solidFill>
                <a:latin typeface="Noto Sans Devanagari"/>
                <a:ea typeface="Noto Sans Devanagari"/>
                <a:cs typeface="Noto Sans Devanagari"/>
              </a:rPr>
              <a:t>विद्युत  </a:t>
            </a:r>
            <a:r>
              <a:rPr sz="2000" b="1">
                <a:solidFill>
                  <a:srgbClr val="FFE28C"/>
                </a:solidFill>
                <a:latin typeface="Noto Sans"/>
                <a:ea typeface="Noto Sans"/>
                <a:cs typeface="Noto Sans"/>
              </a:rPr>
              <a:t>•  ELECTRICITY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0500" y="292100"/>
            <a:ext cx="2540000" cy="3683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F7C846"/>
              </a:gs>
              <a:gs pos="100000">
                <a:srgbClr val="D69E1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80500" y="2921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1B14"/>
                </a:solidFill>
                <a:latin typeface="Noto Sans"/>
                <a:ea typeface="Noto Sans"/>
                <a:cs typeface="Noto Sans"/>
              </a:rPr>
              <a:t>10</a:t>
            </a:r>
            <a:r>
              <a:rPr sz="1700" b="1">
                <a:solidFill>
                  <a:srgbClr val="151B14"/>
                </a:solidFill>
                <a:latin typeface="Noto Sans Devanagari"/>
                <a:ea typeface="Noto Sans Devanagari"/>
                <a:cs typeface="Noto Sans Devanagari"/>
              </a:rPr>
              <a:t>वीं कक्षा  |  10</a:t>
            </a:r>
            <a:r>
              <a:rPr sz="1700" b="1">
                <a:solidFill>
                  <a:srgbClr val="151B14"/>
                </a:solidFill>
                <a:latin typeface="Poppins"/>
                <a:ea typeface="Poppins"/>
                <a:cs typeface="Poppins"/>
              </a:rPr>
              <a:t>th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5200"/>
            <a:ext cx="11049000" cy="12700"/>
          </a:xfrm>
          <a:prstGeom prst="rect">
            <a:avLst/>
          </a:prstGeom>
          <a:solidFill>
            <a:srgbClr val="F7C84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066800"/>
            <a:ext cx="11049000" cy="635000"/>
          </a:xfrm>
          <a:prstGeom prst="roundRect">
            <a:avLst>
              <a:gd name="adj" fmla="val 36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22300" y="1117600"/>
            <a:ext cx="10947400" cy="533400"/>
          </a:xfrm>
          <a:prstGeom prst="roundRect">
            <a:avLst>
              <a:gd name="adj" fmla="val 3095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" y="1066800"/>
            <a:ext cx="11049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140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उत्तर कुंजी   |   </a:t>
            </a:r>
            <a:r>
              <a:rPr sz="3300" b="1" spc="1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ANSWER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388100"/>
            <a:ext cx="1104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1500" y="645160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50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64643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08E82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6451600"/>
            <a:ext cx="38100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C846"/>
                </a:solidFill>
                <a:latin typeface="Poppins"/>
                <a:ea typeface="Poppins"/>
                <a:cs typeface="Poppins"/>
              </a:rPr>
              <a:t>Dream 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66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19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45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988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2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6110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649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9050" y="19939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23350" y="19939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8740" y="19939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66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19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45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988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42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680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6110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649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09050" y="29591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23350" y="29591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8740" y="29591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66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19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45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4988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142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680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6110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649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09050" y="39243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23350" y="39243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38740" y="39243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366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519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(C)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845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4988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142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680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26110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649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(A)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09050" y="4889500"/>
            <a:ext cx="2584450" cy="838200"/>
          </a:xfrm>
          <a:prstGeom prst="roundRect">
            <a:avLst>
              <a:gd name="adj" fmla="val 2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7C846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23350" y="4889500"/>
            <a:ext cx="143637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Q. 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38740" y="4889500"/>
            <a:ext cx="1381125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(D)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571500" y="165100"/>
            <a:ext cx="11049000" cy="12700"/>
          </a:xfrm>
          <a:prstGeom prst="rect">
            <a:avLst/>
          </a:prstGeom>
          <a:solidFill>
            <a:srgbClr val="F7C846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889000"/>
            <a:ext cx="12192000" cy="1257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7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>
                <a:solidFill>
                  <a:srgbClr val="FFFFFF"/>
                </a:solidFill>
                <a:latin typeface="Noto Sans Devanagari"/>
                <a:ea typeface="Noto Sans Devanagari"/>
                <a:cs typeface="Noto Sans Devanagari"/>
              </a:rPr>
              <a:t>धन्यवाद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95500"/>
            <a:ext cx="12192000" cy="772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88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40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THANK 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2730500"/>
            <a:ext cx="2286000" cy="19050"/>
          </a:xfrm>
          <a:prstGeom prst="rect">
            <a:avLst/>
          </a:prstGeom>
          <a:solidFill>
            <a:srgbClr val="F7C84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0" y="2870200"/>
            <a:ext cx="12192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PHYSICS   •   विद्युत (ELECTRICITY)   •   10वीं कक्षा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2500" y="3429000"/>
            <a:ext cx="7747000" cy="952500"/>
          </a:xfrm>
          <a:prstGeom prst="roundRect">
            <a:avLst>
              <a:gd name="adj" fmla="val 24000"/>
            </a:avLst>
          </a:prstGeom>
          <a:ln>
            <a:noFill/>
          </a:ln>
          <a:effectLst/>
          <a:gradFill rotWithShape="1">
            <a:gsLst>
              <a:gs pos="0">
                <a:srgbClr val="5C0610"/>
              </a:gs>
              <a:gs pos="18000">
                <a:srgbClr val="960A1A"/>
              </a:gs>
              <a:gs pos="50000">
                <a:srgbClr val="D61628"/>
              </a:gs>
              <a:gs pos="82000">
                <a:srgbClr val="960A1A"/>
              </a:gs>
              <a:gs pos="100000">
                <a:srgbClr val="5C061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273300" y="3479800"/>
            <a:ext cx="7645400" cy="850900"/>
          </a:xfrm>
          <a:prstGeom prst="roundRect">
            <a:avLst>
              <a:gd name="adj" fmla="val 19402"/>
            </a:avLst>
          </a:prstGeom>
          <a:noFill/>
          <a:ln w="12700">
            <a:solidFill>
              <a:srgbClr val="F7C846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22500" y="3530600"/>
            <a:ext cx="7747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2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DREAM CLASSES KOTHWARA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2500" y="3949700"/>
            <a:ext cx="77470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By :  Dream Sir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483100"/>
            <a:ext cx="12192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AB6AA"/>
                </a:solidFill>
                <a:latin typeface="Poppins"/>
                <a:ea typeface="Poppins"/>
                <a:cs typeface="Poppins"/>
              </a:rPr>
              <a:t>For  more  notes,  PDF  &amp;  video  classes  contact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38700"/>
            <a:ext cx="121920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84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200">
                <a:solidFill>
                  <a:srgbClr val="F7C846"/>
                </a:solidFill>
                <a:latin typeface="Noto Sans"/>
                <a:ea typeface="Noto Sans"/>
                <a:cs typeface="Noto Sans"/>
              </a:rPr>
              <a:t>+91 97089 83294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58800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0">
                <a:solidFill>
                  <a:srgbClr val="F5F7F0"/>
                </a:solidFill>
                <a:latin typeface="Poppins"/>
                <a:ea typeface="Poppins"/>
                <a:cs typeface="Poppins"/>
              </a:rPr>
              <a:t>WhatsApp   •   Call   •   Telegram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6500" y="6007100"/>
            <a:ext cx="7239000" cy="12700"/>
          </a:xfrm>
          <a:prstGeom prst="rect">
            <a:avLst/>
          </a:prstGeom>
          <a:solidFill>
            <a:srgbClr val="F7C846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0" y="6108700"/>
            <a:ext cx="121920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300">
                <a:solidFill>
                  <a:srgbClr val="FFE28C"/>
                </a:solidFill>
                <a:latin typeface="Poppins"/>
                <a:ea typeface="Poppins"/>
                <a:cs typeface="Poppins"/>
              </a:rPr>
              <a:t>All  The  Best 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